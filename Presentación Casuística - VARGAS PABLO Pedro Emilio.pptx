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1" r:id="rId4"/>
    <p:sldId id="258" r:id="rId5"/>
    <p:sldId id="259" r:id="rId6"/>
    <p:sldId id="262" r:id="rId7"/>
    <p:sldId id="264" r:id="rId8"/>
    <p:sldId id="265" r:id="rId9"/>
    <p:sldId id="260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EDRO VARGAS" initials="PV" lastIdx="1" clrIdx="0">
    <p:extLst>
      <p:ext uri="{19B8F6BF-5375-455C-9EA6-DF929625EA0E}">
        <p15:presenceInfo xmlns:p15="http://schemas.microsoft.com/office/powerpoint/2012/main" userId="0a7196e77c6f3ef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Estilo temático 1 - Énfasis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08FB837D-C827-4EFA-A057-4D05807E0F7C}" styleName="Estilo temático 1 - Énfasis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6" d="100"/>
          <a:sy n="66" d="100"/>
        </p:scale>
        <p:origin x="792" y="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10-16T15:55:05.481" idx="1">
    <p:pos x="10" y="10"/>
    <p:text/>
    <p:extLst>
      <p:ext uri="{C676402C-5697-4E1C-873F-D02D1690AC5C}">
        <p15:threadingInfo xmlns:p15="http://schemas.microsoft.com/office/powerpoint/2012/main" timeZoneBias="30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CA5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966960" cy="45550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lang="es-PE" sz="1300" b="1" dirty="0" smtClean="0">
                <a:solidFill>
                  <a:srgbClr val="2CA5A9"/>
                </a:solidFill>
                <a:latin typeface="Aptos"/>
              </a:rPr>
              <a:t>AI SOLUTION ARCHITECT – EDICIÓN 4</a:t>
            </a:r>
          </a:p>
          <a:p>
            <a:pPr algn="l"/>
            <a:r>
              <a:rPr lang="es-PE" sz="1300" b="1" dirty="0" smtClean="0">
                <a:solidFill>
                  <a:srgbClr val="2CA5A9"/>
                </a:solidFill>
                <a:latin typeface="Aptos"/>
              </a:rPr>
              <a:t>DATAPATH</a:t>
            </a:r>
            <a:endParaRPr sz="1300" b="1" dirty="0">
              <a:solidFill>
                <a:srgbClr val="2CA5A9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77239" y="1783080"/>
            <a:ext cx="10355217" cy="1163395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r>
              <a:rPr lang="es-ES" sz="3600" b="1" dirty="0"/>
              <a:t>Agente conversacional inteligente para el diagnóstico y resolución de incidentes de </a:t>
            </a:r>
            <a:r>
              <a:rPr lang="es-ES" sz="3600" b="1" dirty="0" smtClean="0"/>
              <a:t>tecnológicos</a:t>
            </a:r>
            <a:endParaRPr lang="es-ES" sz="3600" dirty="0"/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8961120" cy="31701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lang="es-PE" sz="1700" b="0" dirty="0" err="1" smtClean="0">
                <a:solidFill>
                  <a:srgbClr val="697787"/>
                </a:solidFill>
                <a:latin typeface="Aptos"/>
              </a:rPr>
              <a:t>Chatbot</a:t>
            </a:r>
            <a:r>
              <a:rPr lang="es-PE" sz="1700" b="0" dirty="0" smtClean="0">
                <a:solidFill>
                  <a:srgbClr val="697787"/>
                </a:solidFill>
                <a:latin typeface="Aptos"/>
              </a:rPr>
              <a:t> integrado con Agente IA y Base de Conocimiento Vectorial y Estructurada.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09860" y="4064581"/>
            <a:ext cx="1143000" cy="658368"/>
          </a:xfrm>
          <a:prstGeom prst="roundRect">
            <a:avLst/>
          </a:prstGeom>
          <a:solidFill>
            <a:srgbClr val="306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Chatbot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81160" y="3072384"/>
            <a:ext cx="1371600" cy="658368"/>
          </a:xfrm>
          <a:prstGeom prst="roundRect">
            <a:avLst/>
          </a:prstGeom>
          <a:solidFill>
            <a:srgbClr val="2CA5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Agente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63640"/>
            <a:ext cx="9144000" cy="30162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lang="es-PE" sz="1600" b="1" dirty="0" smtClean="0">
                <a:solidFill>
                  <a:srgbClr val="697787"/>
                </a:solidFill>
                <a:latin typeface="Aptos"/>
              </a:rPr>
              <a:t>Propuesto por: VARGAS PABLO, PEDRO EMILIO</a:t>
            </a:r>
            <a:endParaRPr sz="1600" b="1" dirty="0">
              <a:solidFill>
                <a:srgbClr val="697787"/>
              </a:solidFill>
              <a:latin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CA5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881360" cy="64008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2800" b="1">
                <a:solidFill>
                  <a:srgbClr val="182B46"/>
                </a:solidFill>
                <a:latin typeface="Aptos"/>
              </a:rPr>
              <a:t>1. Problemática actual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10789920" cy="20928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r>
              <a:rPr lang="es-ES" sz="1000" b="1" dirty="0"/>
              <a:t>Agente conversacional inteligente para el diagnóstico y resolución de incidentes de tecnológicos.</a:t>
            </a:r>
            <a:endParaRPr sz="1000" b="1" dirty="0">
              <a:solidFill>
                <a:srgbClr val="697787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018520" y="6473952"/>
            <a:ext cx="548640" cy="20116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r"/>
            <a:r>
              <a:rPr sz="900" b="1">
                <a:solidFill>
                  <a:srgbClr val="697787"/>
                </a:solidFill>
                <a:latin typeface="Aptos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389888"/>
            <a:ext cx="10927080" cy="22860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5212080" cy="1508760"/>
          </a:xfrm>
          <a:prstGeom prst="roundRect">
            <a:avLst/>
          </a:prstGeom>
          <a:solidFill>
            <a:srgbClr val="F3F7FB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1947672"/>
            <a:ext cx="4809744" cy="32918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500" b="1">
                <a:solidFill>
                  <a:srgbClr val="3069AA"/>
                </a:solidFill>
                <a:latin typeface="Aptos"/>
              </a:rPr>
              <a:t>Situación actual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65368"/>
            <a:ext cx="5212080" cy="113261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marL="285750" indent="-285750" algn="l">
              <a:buFontTx/>
              <a:buChar char="-"/>
            </a:pPr>
            <a:r>
              <a:rPr lang="es-PE" sz="1400" dirty="0" smtClean="0">
                <a:solidFill>
                  <a:srgbClr val="697787"/>
                </a:solidFill>
                <a:latin typeface="Aptos"/>
              </a:rPr>
              <a:t>En la empresa existen centenares de Líderes Técnicos que custodian sus aplicaciones y constantemente reportan problemas técnicos </a:t>
            </a:r>
            <a:r>
              <a:rPr lang="es-PE" sz="1400" dirty="0">
                <a:solidFill>
                  <a:srgbClr val="697787"/>
                </a:solidFill>
                <a:latin typeface="Aptos"/>
              </a:rPr>
              <a:t>y</a:t>
            </a:r>
            <a:r>
              <a:rPr lang="es-PE" sz="1400" dirty="0" smtClean="0">
                <a:solidFill>
                  <a:srgbClr val="697787"/>
                </a:solidFill>
                <a:latin typeface="Aptos"/>
              </a:rPr>
              <a:t> consultas en un chat grupal, intentando resolver problemas técnicos para que sus Apps sigan operativas y brindando servicio a los usuarios finales.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783080"/>
            <a:ext cx="5212080" cy="1508760"/>
          </a:xfrm>
          <a:prstGeom prst="roundRect">
            <a:avLst/>
          </a:prstGeom>
          <a:solidFill>
            <a:srgbClr val="F3F7FB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3368" y="1947672"/>
            <a:ext cx="4809744" cy="32918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500" b="1">
                <a:solidFill>
                  <a:srgbClr val="3069AA"/>
                </a:solidFill>
                <a:latin typeface="Aptos"/>
              </a:rPr>
              <a:t>Causas principales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2211523"/>
            <a:ext cx="5212080" cy="70173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marL="285750" indent="-285750" algn="l">
              <a:buFontTx/>
              <a:buChar char="-"/>
            </a:pPr>
            <a:r>
              <a:rPr lang="es-PE" sz="1400" dirty="0" smtClean="0">
                <a:solidFill>
                  <a:srgbClr val="697787"/>
                </a:solidFill>
                <a:latin typeface="Aptos"/>
              </a:rPr>
              <a:t>No existen un canal oficial o herramienta donde se centralice el conocimiento y permita resolver dudas técnicas rápidamente.</a:t>
            </a:r>
            <a:endParaRPr sz="1400" b="0" dirty="0">
              <a:solidFill>
                <a:srgbClr val="697787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731520" y="3611880"/>
            <a:ext cx="5212080" cy="1600200"/>
          </a:xfrm>
          <a:prstGeom prst="roundRect">
            <a:avLst/>
          </a:prstGeom>
          <a:solidFill>
            <a:srgbClr val="F3F7FB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32688" y="3776472"/>
            <a:ext cx="2980944" cy="32918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500" b="1">
                <a:solidFill>
                  <a:srgbClr val="3069AA"/>
                </a:solidFill>
                <a:latin typeface="Aptos"/>
              </a:rPr>
              <a:t>Impacto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051329"/>
            <a:ext cx="5212080" cy="91717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marL="285750" indent="-285750" algn="l">
              <a:buFontTx/>
              <a:buChar char="-"/>
            </a:pPr>
            <a:r>
              <a:rPr lang="es-PE" sz="1400" dirty="0" smtClean="0">
                <a:solidFill>
                  <a:srgbClr val="697787"/>
                </a:solidFill>
                <a:latin typeface="Aptos"/>
              </a:rPr>
              <a:t>Potencial indisponibilidad de aplicaciones que puede afectar el servicio a usuarios finales.</a:t>
            </a:r>
          </a:p>
          <a:p>
            <a:pPr marL="285750" indent="-285750" algn="l">
              <a:buFontTx/>
              <a:buChar char="-"/>
            </a:pPr>
            <a:r>
              <a:rPr lang="es-PE" sz="1400" dirty="0" smtClean="0">
                <a:solidFill>
                  <a:srgbClr val="697787"/>
                </a:solidFill>
                <a:latin typeface="Aptos"/>
              </a:rPr>
              <a:t>Retrasos en entregas: Los </a:t>
            </a:r>
            <a:r>
              <a:rPr lang="es-PE" sz="1400" dirty="0" err="1" smtClean="0">
                <a:solidFill>
                  <a:srgbClr val="697787"/>
                </a:solidFill>
                <a:latin typeface="Aptos"/>
              </a:rPr>
              <a:t>LTs</a:t>
            </a:r>
            <a:r>
              <a:rPr lang="es-PE" sz="1400" dirty="0" smtClean="0">
                <a:solidFill>
                  <a:srgbClr val="697787"/>
                </a:solidFill>
                <a:latin typeface="Aptos"/>
              </a:rPr>
              <a:t> requieren tiempo para investigar soluciones.</a:t>
            </a:r>
            <a:endParaRPr sz="1400" b="0" dirty="0">
              <a:solidFill>
                <a:srgbClr val="697787"/>
              </a:solidFill>
              <a:latin typeface="Aptos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172200" y="3589020"/>
            <a:ext cx="5239512" cy="1600200"/>
          </a:xfrm>
          <a:prstGeom prst="roundRect">
            <a:avLst/>
          </a:prstGeom>
          <a:solidFill>
            <a:srgbClr val="F3F7FB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73368" y="3753612"/>
            <a:ext cx="5010912" cy="28623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lang="es-PE" sz="1500" b="1" dirty="0" smtClean="0">
                <a:solidFill>
                  <a:srgbClr val="3069AA"/>
                </a:solidFill>
                <a:latin typeface="Aptos"/>
              </a:rPr>
              <a:t>Consecuencias negativas</a:t>
            </a:r>
            <a:endParaRPr sz="1500" b="1" dirty="0">
              <a:solidFill>
                <a:srgbClr val="3069AA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172200" y="4082796"/>
            <a:ext cx="5239512" cy="70173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marL="285750" indent="-285750" algn="l">
              <a:buFontTx/>
              <a:buChar char="-"/>
            </a:pPr>
            <a:r>
              <a:rPr lang="es-PE" sz="1400" dirty="0" smtClean="0">
                <a:solidFill>
                  <a:srgbClr val="697787"/>
                </a:solidFill>
                <a:latin typeface="Aptos"/>
              </a:rPr>
              <a:t>Indisponibilidad de los canales, afectando a usuarios finales.</a:t>
            </a:r>
          </a:p>
          <a:p>
            <a:pPr marL="285750" indent="-285750" algn="l">
              <a:buFontTx/>
              <a:buChar char="-"/>
            </a:pPr>
            <a:r>
              <a:rPr lang="es-PE" sz="1400" b="0" dirty="0" smtClean="0">
                <a:solidFill>
                  <a:srgbClr val="697787"/>
                </a:solidFill>
                <a:latin typeface="Aptos"/>
              </a:rPr>
              <a:t>Daños a la reputación de la empresa.</a:t>
            </a:r>
          </a:p>
          <a:p>
            <a:pPr marL="285750" indent="-285750" algn="l">
              <a:buFontTx/>
              <a:buChar char="-"/>
            </a:pPr>
            <a:r>
              <a:rPr lang="es-PE" sz="1400" dirty="0" smtClean="0">
                <a:solidFill>
                  <a:srgbClr val="697787"/>
                </a:solidFill>
                <a:latin typeface="Aptos"/>
              </a:rPr>
              <a:t>Pérdidas económicas.</a:t>
            </a:r>
            <a:endParaRPr sz="1400" b="0" dirty="0">
              <a:solidFill>
                <a:srgbClr val="697787"/>
              </a:solidFill>
              <a:latin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CA5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881360" cy="64008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2800" b="1">
                <a:solidFill>
                  <a:srgbClr val="182B46"/>
                </a:solidFill>
                <a:latin typeface="Aptos"/>
              </a:rPr>
              <a:t>1. Problemática actual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10789920" cy="20928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r>
              <a:rPr lang="es-ES" sz="1000" b="1" dirty="0"/>
              <a:t>Agente conversacional inteligente para el diagnóstico y resolución de incidentes de tecnológicos.</a:t>
            </a:r>
            <a:endParaRPr sz="1000" b="1" dirty="0">
              <a:solidFill>
                <a:srgbClr val="697787"/>
              </a:solidFill>
              <a:latin typeface="Apto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21792" y="1389888"/>
            <a:ext cx="10927080" cy="22860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Imagen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5066" y="1599176"/>
            <a:ext cx="6580531" cy="5202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88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CA5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881360" cy="48628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2800" b="1" dirty="0">
                <a:solidFill>
                  <a:srgbClr val="182B46"/>
                </a:solidFill>
                <a:latin typeface="Aptos"/>
              </a:rPr>
              <a:t>2. ¿</a:t>
            </a:r>
            <a:r>
              <a:rPr sz="2800" b="1" dirty="0" err="1">
                <a:solidFill>
                  <a:srgbClr val="182B46"/>
                </a:solidFill>
                <a:latin typeface="Aptos"/>
              </a:rPr>
              <a:t>Cómo</a:t>
            </a:r>
            <a:r>
              <a:rPr sz="2800" b="1" dirty="0">
                <a:solidFill>
                  <a:srgbClr val="182B46"/>
                </a:solidFill>
                <a:latin typeface="Aptos"/>
              </a:rPr>
              <a:t> lo </a:t>
            </a:r>
            <a:r>
              <a:rPr sz="2800" b="1" dirty="0" err="1">
                <a:solidFill>
                  <a:srgbClr val="182B46"/>
                </a:solidFill>
                <a:latin typeface="Aptos"/>
              </a:rPr>
              <a:t>están</a:t>
            </a:r>
            <a:r>
              <a:rPr sz="2800" b="1" dirty="0">
                <a:solidFill>
                  <a:srgbClr val="182B46"/>
                </a:solidFill>
                <a:latin typeface="Aptos"/>
              </a:rPr>
              <a:t> </a:t>
            </a:r>
            <a:r>
              <a:rPr sz="2800" b="1" dirty="0" err="1" smtClean="0">
                <a:solidFill>
                  <a:srgbClr val="182B46"/>
                </a:solidFill>
                <a:latin typeface="Aptos"/>
              </a:rPr>
              <a:t>resolviendo</a:t>
            </a:r>
            <a:r>
              <a:rPr lang="es-PE" sz="2800" b="1" dirty="0" smtClean="0">
                <a:solidFill>
                  <a:srgbClr val="182B46"/>
                </a:solidFill>
                <a:latin typeface="Aptos"/>
              </a:rPr>
              <a:t> actualmente</a:t>
            </a:r>
            <a:r>
              <a:rPr sz="2800" b="1" dirty="0" smtClean="0">
                <a:solidFill>
                  <a:srgbClr val="182B46"/>
                </a:solidFill>
                <a:latin typeface="Aptos"/>
              </a:rPr>
              <a:t>?</a:t>
            </a:r>
            <a:endParaRPr sz="2800" b="1" dirty="0">
              <a:solidFill>
                <a:srgbClr val="182B46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10789920" cy="20928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r>
              <a:rPr lang="es-ES" sz="1000" b="1" dirty="0"/>
              <a:t>Agente conversacional inteligente para el diagnóstico y resolución de incidentes de tecnológicos.</a:t>
            </a:r>
            <a:endParaRPr sz="1000" b="1" dirty="0">
              <a:solidFill>
                <a:srgbClr val="697787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018520" y="6473952"/>
            <a:ext cx="548640" cy="20116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r"/>
            <a:r>
              <a:rPr sz="900" b="1">
                <a:solidFill>
                  <a:srgbClr val="697787"/>
                </a:solidFill>
                <a:latin typeface="Aptos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389888"/>
            <a:ext cx="10927080" cy="22860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664208"/>
            <a:ext cx="10515600" cy="41148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800" b="1" dirty="0" err="1">
                <a:solidFill>
                  <a:srgbClr val="3069AA"/>
                </a:solidFill>
                <a:latin typeface="Aptos"/>
              </a:rPr>
              <a:t>Proceso</a:t>
            </a:r>
            <a:r>
              <a:rPr sz="1800" b="1" dirty="0">
                <a:solidFill>
                  <a:srgbClr val="3069AA"/>
                </a:solidFill>
                <a:latin typeface="Aptos"/>
              </a:rPr>
              <a:t> actual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331720"/>
            <a:ext cx="2057400" cy="1051560"/>
          </a:xfrm>
          <a:prstGeom prst="roundRect">
            <a:avLst/>
          </a:prstGeom>
          <a:solidFill>
            <a:srgbClr val="F3F7FB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dirty="0">
                <a:solidFill>
                  <a:srgbClr val="182B46"/>
                </a:solidFill>
                <a:latin typeface="Aptos"/>
              </a:rPr>
              <a:t>1. </a:t>
            </a:r>
            <a:r>
              <a:rPr lang="es-PE" sz="1400" b="1" dirty="0" smtClean="0">
                <a:solidFill>
                  <a:srgbClr val="182B46"/>
                </a:solidFill>
                <a:latin typeface="Aptos"/>
              </a:rPr>
              <a:t>Detecta problema</a:t>
            </a:r>
            <a:r>
              <a:rPr sz="1400" b="1" dirty="0">
                <a:solidFill>
                  <a:srgbClr val="182B46"/>
                </a:solidFill>
                <a:latin typeface="Aptos"/>
              </a:rPr>
              <a:t>
</a:t>
            </a:r>
            <a:r>
              <a:rPr sz="1000" dirty="0" smtClean="0">
                <a:solidFill>
                  <a:srgbClr val="697787"/>
                </a:solidFill>
                <a:latin typeface="Aptos"/>
              </a:rPr>
              <a:t>[</a:t>
            </a:r>
            <a:r>
              <a:rPr lang="es-PE" sz="1000" dirty="0" smtClean="0">
                <a:solidFill>
                  <a:srgbClr val="697787"/>
                </a:solidFill>
                <a:latin typeface="Aptos"/>
              </a:rPr>
              <a:t>LT o responsable de App</a:t>
            </a:r>
            <a:r>
              <a:rPr sz="1000" dirty="0" smtClean="0">
                <a:solidFill>
                  <a:srgbClr val="697787"/>
                </a:solidFill>
                <a:latin typeface="Aptos"/>
              </a:rPr>
              <a:t>]</a:t>
            </a:r>
            <a:endParaRPr sz="1000" dirty="0">
              <a:solidFill>
                <a:srgbClr val="697787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953512" y="2651760"/>
            <a:ext cx="502920" cy="27432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2300" b="1">
                <a:solidFill>
                  <a:srgbClr val="2CA5A9"/>
                </a:solidFill>
                <a:latin typeface="Apto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2331720"/>
            <a:ext cx="2057400" cy="1051560"/>
          </a:xfrm>
          <a:prstGeom prst="roundRect">
            <a:avLst/>
          </a:prstGeom>
          <a:solidFill>
            <a:srgbClr val="F3F7FB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dirty="0">
                <a:solidFill>
                  <a:srgbClr val="182B46"/>
                </a:solidFill>
                <a:latin typeface="Aptos"/>
              </a:rPr>
              <a:t>2. </a:t>
            </a:r>
            <a:r>
              <a:rPr lang="es-PE" sz="1400" b="1" dirty="0" smtClean="0">
                <a:solidFill>
                  <a:srgbClr val="182B46"/>
                </a:solidFill>
                <a:latin typeface="Aptos"/>
              </a:rPr>
              <a:t>Revisa foros corporativos</a:t>
            </a:r>
            <a:endParaRPr sz="1000" dirty="0">
              <a:solidFill>
                <a:srgbClr val="697787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788152" y="2651760"/>
            <a:ext cx="502920" cy="27432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2300" b="1">
                <a:solidFill>
                  <a:srgbClr val="2CA5A9"/>
                </a:solidFill>
                <a:latin typeface="Apto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2331720"/>
            <a:ext cx="2057400" cy="1051560"/>
          </a:xfrm>
          <a:prstGeom prst="roundRect">
            <a:avLst/>
          </a:prstGeom>
          <a:solidFill>
            <a:srgbClr val="F3F7FB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dirty="0">
                <a:solidFill>
                  <a:srgbClr val="182B46"/>
                </a:solidFill>
                <a:latin typeface="Aptos"/>
              </a:rPr>
              <a:t>3. </a:t>
            </a:r>
            <a:r>
              <a:rPr lang="es-PE" sz="1400" b="1" dirty="0" smtClean="0">
                <a:solidFill>
                  <a:srgbClr val="182B46"/>
                </a:solidFill>
                <a:latin typeface="Aptos"/>
              </a:rPr>
              <a:t>Registra consulta en Chat Grupal</a:t>
            </a:r>
            <a:endParaRPr sz="1000" dirty="0">
              <a:solidFill>
                <a:srgbClr val="697787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622792" y="2651760"/>
            <a:ext cx="502920" cy="27432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2300" b="1">
                <a:solidFill>
                  <a:srgbClr val="2CA5A9"/>
                </a:solidFill>
                <a:latin typeface="Apto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81160" y="2331720"/>
            <a:ext cx="2057400" cy="1051560"/>
          </a:xfrm>
          <a:prstGeom prst="roundRect">
            <a:avLst/>
          </a:prstGeom>
          <a:solidFill>
            <a:srgbClr val="F3F7FB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dirty="0">
                <a:solidFill>
                  <a:srgbClr val="182B46"/>
                </a:solidFill>
                <a:latin typeface="Aptos"/>
              </a:rPr>
              <a:t>4. </a:t>
            </a:r>
            <a:r>
              <a:rPr lang="es-PE" sz="1400" b="1" dirty="0" smtClean="0">
                <a:solidFill>
                  <a:srgbClr val="182B46"/>
                </a:solidFill>
                <a:latin typeface="Aptos"/>
              </a:rPr>
              <a:t>Espera resultado</a:t>
            </a:r>
            <a:endParaRPr sz="1000" dirty="0">
              <a:solidFill>
                <a:srgbClr val="697787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777240" y="3977639"/>
            <a:ext cx="3337560" cy="1417320"/>
          </a:xfrm>
          <a:prstGeom prst="roundRect">
            <a:avLst/>
          </a:prstGeom>
          <a:solidFill>
            <a:srgbClr val="F3F7FB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78408" y="4142231"/>
            <a:ext cx="2935224" cy="32918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500" b="1">
                <a:solidFill>
                  <a:srgbClr val="3069AA"/>
                </a:solidFill>
                <a:latin typeface="Aptos"/>
              </a:rPr>
              <a:t>Herramientas actuales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" y="4599431"/>
            <a:ext cx="2935224" cy="48628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marL="285750" indent="-285750" algn="l">
              <a:buFontTx/>
              <a:buChar char="-"/>
            </a:pPr>
            <a:r>
              <a:rPr lang="es-PE" sz="1400" b="0" dirty="0" err="1" smtClean="0">
                <a:solidFill>
                  <a:srgbClr val="697787"/>
                </a:solidFill>
                <a:latin typeface="Aptos"/>
              </a:rPr>
              <a:t>Confluence</a:t>
            </a:r>
            <a:r>
              <a:rPr lang="es-PE" sz="1400" b="0" dirty="0" smtClean="0">
                <a:solidFill>
                  <a:srgbClr val="697787"/>
                </a:solidFill>
                <a:latin typeface="Aptos"/>
              </a:rPr>
              <a:t> (Wikipedia interna)</a:t>
            </a:r>
          </a:p>
          <a:p>
            <a:pPr marL="285750" indent="-285750" algn="l">
              <a:buFontTx/>
              <a:buChar char="-"/>
            </a:pPr>
            <a:r>
              <a:rPr lang="es-PE" sz="1400" dirty="0" smtClean="0">
                <a:solidFill>
                  <a:srgbClr val="697787"/>
                </a:solidFill>
                <a:latin typeface="Aptos"/>
              </a:rPr>
              <a:t>Chat en </a:t>
            </a:r>
            <a:r>
              <a:rPr lang="es-PE" sz="1400" dirty="0" err="1" smtClean="0">
                <a:solidFill>
                  <a:srgbClr val="697787"/>
                </a:solidFill>
                <a:latin typeface="Aptos"/>
              </a:rPr>
              <a:t>Teams</a:t>
            </a:r>
            <a:endParaRPr sz="1400" b="0" dirty="0">
              <a:solidFill>
                <a:srgbClr val="697787"/>
              </a:solidFill>
              <a:latin typeface="Aptos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8092440" y="3977639"/>
            <a:ext cx="3246120" cy="1417320"/>
          </a:xfrm>
          <a:prstGeom prst="roundRect">
            <a:avLst/>
          </a:prstGeom>
          <a:solidFill>
            <a:srgbClr val="F3F7FB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93608" y="4142231"/>
            <a:ext cx="2843784" cy="32918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500" b="1">
                <a:solidFill>
                  <a:srgbClr val="3069AA"/>
                </a:solidFill>
                <a:latin typeface="Aptos"/>
              </a:rPr>
              <a:t>Limitaciones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8" y="4599431"/>
            <a:ext cx="2843784" cy="48628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lang="es-PE" sz="1400" b="0" dirty="0" smtClean="0">
                <a:solidFill>
                  <a:srgbClr val="697787"/>
                </a:solidFill>
                <a:latin typeface="Aptos"/>
              </a:rPr>
              <a:t>- Demoras en obtener respuesta y soluciones</a:t>
            </a:r>
            <a:endParaRPr sz="1400" b="0" dirty="0">
              <a:solidFill>
                <a:srgbClr val="697787"/>
              </a:solidFill>
              <a:latin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CA5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881360" cy="48628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2800" b="1" dirty="0">
                <a:solidFill>
                  <a:srgbClr val="182B46"/>
                </a:solidFill>
                <a:latin typeface="Aptos"/>
              </a:rPr>
              <a:t>3. </a:t>
            </a:r>
            <a:r>
              <a:rPr lang="es-PE" sz="2800" b="1" dirty="0" smtClean="0">
                <a:solidFill>
                  <a:srgbClr val="182B46"/>
                </a:solidFill>
                <a:latin typeface="Aptos"/>
              </a:rPr>
              <a:t>Propuesta</a:t>
            </a:r>
            <a:endParaRPr sz="2800" b="1" dirty="0">
              <a:solidFill>
                <a:srgbClr val="182B46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10789920" cy="20928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r>
              <a:rPr lang="es-ES" sz="1000" b="1" dirty="0"/>
              <a:t>Agente conversacional inteligente para el diagnóstico y resolución de incidentes de tecnológicos.</a:t>
            </a:r>
            <a:endParaRPr sz="1000" b="1" dirty="0">
              <a:solidFill>
                <a:srgbClr val="697787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018520" y="6473952"/>
            <a:ext cx="548640" cy="20116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r"/>
            <a:r>
              <a:rPr sz="900" b="1">
                <a:solidFill>
                  <a:srgbClr val="697787"/>
                </a:solidFill>
                <a:latin typeface="Aptos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389888"/>
            <a:ext cx="10927080" cy="22860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1752969"/>
            <a:ext cx="5590177" cy="371794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r>
              <a:rPr lang="es-ES" sz="1400" b="1" dirty="0" smtClean="0"/>
              <a:t>Características </a:t>
            </a:r>
            <a:r>
              <a:rPr lang="es-ES" sz="1400" b="1" dirty="0"/>
              <a:t>principales</a:t>
            </a:r>
          </a:p>
          <a:p>
            <a:pPr marL="285750" indent="-285750">
              <a:buFontTx/>
              <a:buChar char="-"/>
            </a:pPr>
            <a:r>
              <a:rPr lang="es-ES" sz="1400" b="1" dirty="0" smtClean="0"/>
              <a:t>Interfaz </a:t>
            </a:r>
            <a:r>
              <a:rPr lang="es-ES" sz="1400" b="1" dirty="0"/>
              <a:t>web conversacional:</a:t>
            </a:r>
            <a:r>
              <a:rPr lang="es-ES" sz="1400" dirty="0"/>
              <a:t> permite al usuario interactuar con el agente mediante chats y realizar consultas en lenguaje natural</a:t>
            </a:r>
            <a:r>
              <a:rPr lang="es-ES" sz="1400" dirty="0" smtClean="0"/>
              <a:t>.</a:t>
            </a:r>
          </a:p>
          <a:p>
            <a:pPr marL="285750" indent="-285750">
              <a:buFontTx/>
              <a:buChar char="-"/>
            </a:pPr>
            <a:r>
              <a:rPr lang="es-ES" sz="1400" b="1" dirty="0" smtClean="0"/>
              <a:t>Gestión </a:t>
            </a:r>
            <a:r>
              <a:rPr lang="es-ES" sz="1400" b="1" dirty="0"/>
              <a:t>y seguimiento de </a:t>
            </a:r>
            <a:r>
              <a:rPr lang="es-ES" sz="1400" b="1" dirty="0" smtClean="0"/>
              <a:t>sesiones y memoria contextual:</a:t>
            </a:r>
            <a:r>
              <a:rPr lang="es-ES" sz="1400" dirty="0" smtClean="0"/>
              <a:t> </a:t>
            </a:r>
            <a:r>
              <a:rPr lang="es-ES" sz="1400" dirty="0"/>
              <a:t>mantiene el historial de conversaciones organizado por sesión, permitiendo consultar las preguntas y respuestas de cada </a:t>
            </a:r>
            <a:r>
              <a:rPr lang="es-ES" sz="1400" dirty="0" smtClean="0"/>
              <a:t>chat.</a:t>
            </a:r>
          </a:p>
          <a:p>
            <a:pPr marL="285750" indent="-285750">
              <a:buFontTx/>
              <a:buChar char="-"/>
            </a:pPr>
            <a:r>
              <a:rPr lang="es-ES" sz="1400" b="1" dirty="0" smtClean="0"/>
              <a:t>Búsqueda </a:t>
            </a:r>
            <a:r>
              <a:rPr lang="es-ES" sz="1400" b="1" dirty="0"/>
              <a:t>semántica de incidentes:</a:t>
            </a:r>
            <a:r>
              <a:rPr lang="es-ES" sz="1400" dirty="0"/>
              <a:t> recupera antecedentes técnicos relacionados mediante una base de datos </a:t>
            </a:r>
            <a:r>
              <a:rPr lang="es-ES" sz="1400" dirty="0" smtClean="0"/>
              <a:t>vectorial.</a:t>
            </a:r>
          </a:p>
          <a:p>
            <a:pPr marL="285750" indent="-285750">
              <a:buFontTx/>
              <a:buChar char="-"/>
            </a:pPr>
            <a:r>
              <a:rPr lang="es-ES" sz="1400" b="1" dirty="0" smtClean="0"/>
              <a:t>Integración </a:t>
            </a:r>
            <a:r>
              <a:rPr lang="es-ES" sz="1400" b="1" dirty="0"/>
              <a:t>con datos estructurados:</a:t>
            </a:r>
            <a:r>
              <a:rPr lang="es-ES" sz="1400" dirty="0"/>
              <a:t> consulta </a:t>
            </a:r>
            <a:r>
              <a:rPr lang="es-ES" sz="1400" dirty="0" err="1"/>
              <a:t>PostgreSQL</a:t>
            </a:r>
            <a:r>
              <a:rPr lang="es-ES" sz="1400" dirty="0"/>
              <a:t> para recuperar incidentes, hipótesis, soluciones y adjuntos </a:t>
            </a:r>
            <a:r>
              <a:rPr lang="es-ES" sz="1400" dirty="0" smtClean="0"/>
              <a:t>registrados.</a:t>
            </a:r>
          </a:p>
          <a:p>
            <a:pPr marL="742950" lvl="1" indent="-285750">
              <a:buFontTx/>
              <a:buChar char="-"/>
            </a:pPr>
            <a:r>
              <a:rPr lang="es-ES" sz="1400" dirty="0" smtClean="0"/>
              <a:t>Se establece estructura para registrar el estado del incidente y la persona quien lo reportó/solucionó.</a:t>
            </a:r>
          </a:p>
          <a:p>
            <a:pPr marL="285750" indent="-285750">
              <a:buFontTx/>
              <a:buChar char="-"/>
            </a:pPr>
            <a:r>
              <a:rPr lang="es-ES" sz="1400" b="1" dirty="0" smtClean="0"/>
              <a:t>Diagnóstico </a:t>
            </a:r>
            <a:r>
              <a:rPr lang="es-ES" sz="1400" b="1" dirty="0"/>
              <a:t>asistido por IA:</a:t>
            </a:r>
            <a:r>
              <a:rPr lang="es-ES" sz="1400" dirty="0"/>
              <a:t> analiza los antecedentes disponibles y propone posibles causas y acciones de </a:t>
            </a:r>
            <a:r>
              <a:rPr lang="es-ES" sz="1400" dirty="0" smtClean="0"/>
              <a:t>diagnóstico.</a:t>
            </a:r>
          </a:p>
          <a:p>
            <a:pPr marL="285750" indent="-285750">
              <a:buFontTx/>
              <a:buChar char="-"/>
            </a:pPr>
            <a:r>
              <a:rPr lang="es-ES" sz="1400" b="1" dirty="0" smtClean="0"/>
              <a:t>Trazabilidad </a:t>
            </a:r>
            <a:r>
              <a:rPr lang="es-ES" sz="1400" b="1" dirty="0"/>
              <a:t>y confiabilidad:</a:t>
            </a:r>
            <a:r>
              <a:rPr lang="es-ES" sz="1400" dirty="0"/>
              <a:t> registra las interacciones y distingue los datos históricos verificados de las recomendaciones generadas.</a:t>
            </a:r>
          </a:p>
          <a:p>
            <a:pPr marL="228600" indent="-228600">
              <a:buAutoNum type="arabicParenR"/>
            </a:pPr>
            <a:endParaRPr sz="1400" b="0" dirty="0">
              <a:solidFill>
                <a:srgbClr val="697787"/>
              </a:solidFill>
              <a:latin typeface="Aptos"/>
            </a:endParaRPr>
          </a:p>
        </p:txBody>
      </p:sp>
      <p:pic>
        <p:nvPicPr>
          <p:cNvPr id="24" name="Imagen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2537" y="1752969"/>
            <a:ext cx="4829175" cy="2857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CA5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881360" cy="48628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lang="es-PE" sz="2800" b="1" dirty="0" smtClean="0">
                <a:solidFill>
                  <a:srgbClr val="182B46"/>
                </a:solidFill>
                <a:latin typeface="Aptos"/>
              </a:rPr>
              <a:t>4</a:t>
            </a:r>
            <a:r>
              <a:rPr sz="2800" b="1" dirty="0" smtClean="0">
                <a:solidFill>
                  <a:srgbClr val="182B46"/>
                </a:solidFill>
                <a:latin typeface="Aptos"/>
              </a:rPr>
              <a:t>. </a:t>
            </a:r>
            <a:r>
              <a:rPr sz="2800" b="1" dirty="0" err="1">
                <a:solidFill>
                  <a:srgbClr val="182B46"/>
                </a:solidFill>
                <a:latin typeface="Aptos"/>
              </a:rPr>
              <a:t>Arquitectura</a:t>
            </a:r>
            <a:endParaRPr sz="2800" b="1" dirty="0">
              <a:solidFill>
                <a:srgbClr val="182B46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10789920" cy="20928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r>
              <a:rPr lang="es-ES" sz="1000" b="1" dirty="0"/>
              <a:t>Agente conversacional inteligente para el diagnóstico y resolución de incidentes de tecnológicos.</a:t>
            </a:r>
            <a:endParaRPr sz="1000" b="1" dirty="0">
              <a:solidFill>
                <a:srgbClr val="697787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018520" y="6473952"/>
            <a:ext cx="548640" cy="20116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r"/>
            <a:r>
              <a:rPr sz="900" b="1">
                <a:solidFill>
                  <a:srgbClr val="697787"/>
                </a:solidFill>
                <a:latin typeface="Aptos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389888"/>
            <a:ext cx="10927080" cy="22860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6"/>
          <p:cNvSpPr txBox="1"/>
          <p:nvPr/>
        </p:nvSpPr>
        <p:spPr>
          <a:xfrm>
            <a:off x="777240" y="1664208"/>
            <a:ext cx="10515600" cy="33239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lang="es-PE" b="1" dirty="0" smtClean="0">
                <a:solidFill>
                  <a:srgbClr val="3069AA"/>
                </a:solidFill>
                <a:latin typeface="Aptos"/>
              </a:rPr>
              <a:t>Diagrama C4 – Nivel 1</a:t>
            </a:r>
            <a:endParaRPr sz="1800" b="1" dirty="0">
              <a:solidFill>
                <a:srgbClr val="3069AA"/>
              </a:solidFill>
              <a:latin typeface="Aptos"/>
            </a:endParaRPr>
          </a:p>
        </p:txBody>
      </p:sp>
      <p:pic>
        <p:nvPicPr>
          <p:cNvPr id="24" name="Imagen 2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6600" y="2248067"/>
            <a:ext cx="5638800" cy="3638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1426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240" y="1605796"/>
            <a:ext cx="10302335" cy="5273954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CA5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881360" cy="48628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lang="es-PE" sz="2800" b="1" dirty="0" smtClean="0">
                <a:solidFill>
                  <a:srgbClr val="182B46"/>
                </a:solidFill>
                <a:latin typeface="Aptos"/>
              </a:rPr>
              <a:t>4</a:t>
            </a:r>
            <a:r>
              <a:rPr sz="2800" b="1" dirty="0" smtClean="0">
                <a:solidFill>
                  <a:srgbClr val="182B46"/>
                </a:solidFill>
                <a:latin typeface="Aptos"/>
              </a:rPr>
              <a:t>. </a:t>
            </a:r>
            <a:r>
              <a:rPr sz="2800" b="1" dirty="0" err="1">
                <a:solidFill>
                  <a:srgbClr val="182B46"/>
                </a:solidFill>
                <a:latin typeface="Aptos"/>
              </a:rPr>
              <a:t>Arquitectura</a:t>
            </a:r>
            <a:endParaRPr sz="2800" b="1" dirty="0">
              <a:solidFill>
                <a:srgbClr val="182B46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10789920" cy="20928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r>
              <a:rPr lang="es-ES" sz="1000" b="1" dirty="0"/>
              <a:t>Agente conversacional inteligente para el diagnóstico y resolución de incidentes de tecnológicos.</a:t>
            </a:r>
            <a:endParaRPr sz="1000" b="1" dirty="0">
              <a:solidFill>
                <a:srgbClr val="697787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018520" y="6473952"/>
            <a:ext cx="548640" cy="20116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r"/>
            <a:r>
              <a:rPr sz="900" b="1">
                <a:solidFill>
                  <a:srgbClr val="697787"/>
                </a:solidFill>
                <a:latin typeface="Aptos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389888"/>
            <a:ext cx="10927080" cy="22860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6"/>
          <p:cNvSpPr txBox="1"/>
          <p:nvPr/>
        </p:nvSpPr>
        <p:spPr>
          <a:xfrm>
            <a:off x="777240" y="1664208"/>
            <a:ext cx="10515600" cy="33239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lang="es-PE" b="1" dirty="0" smtClean="0">
                <a:solidFill>
                  <a:srgbClr val="3069AA"/>
                </a:solidFill>
                <a:latin typeface="Aptos"/>
              </a:rPr>
              <a:t>Diagrama C4 – Nivel 2</a:t>
            </a:r>
            <a:endParaRPr sz="1800" b="1" dirty="0">
              <a:solidFill>
                <a:srgbClr val="3069AA"/>
              </a:solidFill>
              <a:latin typeface="Aptos"/>
            </a:endParaRPr>
          </a:p>
        </p:txBody>
      </p:sp>
      <p:sp>
        <p:nvSpPr>
          <p:cNvPr id="8" name="Llamada rectangular 7"/>
          <p:cNvSpPr/>
          <p:nvPr/>
        </p:nvSpPr>
        <p:spPr>
          <a:xfrm>
            <a:off x="11018520" y="2965581"/>
            <a:ext cx="1127665" cy="398780"/>
          </a:xfrm>
          <a:prstGeom prst="wedgeRectCallout">
            <a:avLst>
              <a:gd name="adj1" fmla="val -56944"/>
              <a:gd name="adj2" fmla="val 68719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PE" sz="800" dirty="0" smtClean="0">
                <a:solidFill>
                  <a:schemeClr val="tx1"/>
                </a:solidFill>
              </a:rPr>
              <a:t>Deseable para etapas futuras.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10" name="Llamada rectangular 9"/>
          <p:cNvSpPr/>
          <p:nvPr/>
        </p:nvSpPr>
        <p:spPr>
          <a:xfrm>
            <a:off x="8663941" y="2608842"/>
            <a:ext cx="769620" cy="398780"/>
          </a:xfrm>
          <a:prstGeom prst="wedgeRectCallout">
            <a:avLst>
              <a:gd name="adj1" fmla="val -56944"/>
              <a:gd name="adj2" fmla="val 68719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PE" sz="800" dirty="0" smtClean="0">
                <a:solidFill>
                  <a:schemeClr val="tx1"/>
                </a:solidFill>
              </a:rPr>
              <a:t>Para este piloto, se hace manual.</a:t>
            </a:r>
            <a:endParaRPr lang="en-US" sz="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90807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CA5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881360" cy="48628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lang="es-PE" sz="2800" b="1" dirty="0" smtClean="0">
                <a:solidFill>
                  <a:srgbClr val="182B46"/>
                </a:solidFill>
                <a:latin typeface="Aptos"/>
              </a:rPr>
              <a:t>5</a:t>
            </a:r>
            <a:r>
              <a:rPr sz="2800" b="1" dirty="0" smtClean="0">
                <a:solidFill>
                  <a:srgbClr val="182B46"/>
                </a:solidFill>
                <a:latin typeface="Aptos"/>
              </a:rPr>
              <a:t>. </a:t>
            </a:r>
            <a:r>
              <a:rPr lang="es-PE" sz="2800" b="1" dirty="0" smtClean="0">
                <a:solidFill>
                  <a:srgbClr val="182B46"/>
                </a:solidFill>
                <a:latin typeface="Aptos"/>
              </a:rPr>
              <a:t>Tools </a:t>
            </a:r>
            <a:r>
              <a:rPr lang="es-PE" sz="2800" b="1" dirty="0" smtClean="0">
                <a:solidFill>
                  <a:srgbClr val="182B46"/>
                </a:solidFill>
                <a:latin typeface="Aptos"/>
              </a:rPr>
              <a:t>y Funcionalidades MCP implementados </a:t>
            </a:r>
            <a:r>
              <a:rPr lang="es-PE" sz="2800" b="1" dirty="0" smtClean="0">
                <a:solidFill>
                  <a:srgbClr val="182B46"/>
                </a:solidFill>
                <a:latin typeface="Aptos"/>
              </a:rPr>
              <a:t>para el Agente</a:t>
            </a:r>
            <a:endParaRPr sz="2800" b="1" dirty="0">
              <a:solidFill>
                <a:srgbClr val="182B46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10789920" cy="20928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r>
              <a:rPr lang="es-ES" sz="1000" b="1" dirty="0"/>
              <a:t>Agente conversacional inteligente para el diagnóstico y resolución de incidentes de tecnológicos.</a:t>
            </a:r>
            <a:endParaRPr sz="1000" b="1" dirty="0">
              <a:solidFill>
                <a:srgbClr val="697787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018520" y="6473952"/>
            <a:ext cx="548640" cy="20116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r"/>
            <a:r>
              <a:rPr sz="900" b="1">
                <a:solidFill>
                  <a:srgbClr val="697787"/>
                </a:solidFill>
                <a:latin typeface="Aptos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389888"/>
            <a:ext cx="10927080" cy="22860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Tab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3935434"/>
              </p:ext>
            </p:extLst>
          </p:nvPr>
        </p:nvGraphicFramePr>
        <p:xfrm>
          <a:off x="621792" y="2570046"/>
          <a:ext cx="10945368" cy="1874486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2034322">
                  <a:extLst>
                    <a:ext uri="{9D8B030D-6E8A-4147-A177-3AD203B41FA5}">
                      <a16:colId xmlns:a16="http://schemas.microsoft.com/office/drawing/2014/main" val="3462298937"/>
                    </a:ext>
                  </a:extLst>
                </a:gridCol>
                <a:gridCol w="8911046">
                  <a:extLst>
                    <a:ext uri="{9D8B030D-6E8A-4147-A177-3AD203B41FA5}">
                      <a16:colId xmlns:a16="http://schemas.microsoft.com/office/drawing/2014/main" val="3394967099"/>
                    </a:ext>
                  </a:extLst>
                </a:gridCol>
              </a:tblGrid>
              <a:tr h="213400">
                <a:tc>
                  <a:txBody>
                    <a:bodyPr/>
                    <a:lstStyle/>
                    <a:p>
                      <a:pPr algn="ctr"/>
                      <a:r>
                        <a:rPr lang="en-US" sz="1200" b="1"/>
                        <a:t>Tool</a:t>
                      </a:r>
                    </a:p>
                  </a:txBody>
                  <a:tcPr marL="58779" marR="58779" marT="29389" marB="29389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 err="1"/>
                        <a:t>Funcionalidad</a:t>
                      </a:r>
                      <a:endParaRPr lang="en-US" sz="1200" b="1" dirty="0"/>
                    </a:p>
                  </a:txBody>
                  <a:tcPr marL="58779" marR="58779" marT="29389" marB="29389" anchor="ctr"/>
                </a:tc>
                <a:extLst>
                  <a:ext uri="{0D108BD9-81ED-4DB2-BD59-A6C34878D82A}">
                    <a16:rowId xmlns:a16="http://schemas.microsoft.com/office/drawing/2014/main" val="3484254392"/>
                  </a:ext>
                </a:extLst>
              </a:tr>
              <a:tr h="95430">
                <a:tc>
                  <a:txBody>
                    <a:bodyPr/>
                    <a:lstStyle/>
                    <a:p>
                      <a:r>
                        <a:rPr lang="en-US" sz="1200" dirty="0" err="1"/>
                        <a:t>search_incident_history</a:t>
                      </a:r>
                      <a:endParaRPr lang="en-US" sz="1200" dirty="0"/>
                    </a:p>
                  </a:txBody>
                  <a:tcPr marL="58779" marR="58779" marT="29389" marB="29389" anchor="ctr"/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Busca antecedentes de incidentes mediante </a:t>
                      </a:r>
                      <a:r>
                        <a:rPr lang="es-ES" sz="1200" dirty="0" err="1"/>
                        <a:t>Qdrant</a:t>
                      </a:r>
                      <a:r>
                        <a:rPr lang="es-ES" sz="1200" dirty="0"/>
                        <a:t> y consulta </a:t>
                      </a:r>
                      <a:r>
                        <a:rPr lang="es-ES" sz="1200" dirty="0" err="1"/>
                        <a:t>Neon</a:t>
                      </a:r>
                      <a:r>
                        <a:rPr lang="es-ES" sz="1200" dirty="0"/>
                        <a:t> para recuperar los registros relacionados, incluyendo hipótesis, soluciones y adjuntos.</a:t>
                      </a:r>
                    </a:p>
                  </a:txBody>
                  <a:tcPr marL="58779" marR="58779" marT="29389" marB="29389" anchor="ctr"/>
                </a:tc>
                <a:extLst>
                  <a:ext uri="{0D108BD9-81ED-4DB2-BD59-A6C34878D82A}">
                    <a16:rowId xmlns:a16="http://schemas.microsoft.com/office/drawing/2014/main" val="1684191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/>
                        <a:t>get_incident_summary</a:t>
                      </a:r>
                    </a:p>
                  </a:txBody>
                  <a:tcPr marL="58779" marR="58779" marT="29389" marB="29389" anchor="ctr"/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Obtiene un resumen estadístico de los incidentes registrados.</a:t>
                      </a:r>
                    </a:p>
                  </a:txBody>
                  <a:tcPr marL="58779" marR="58779" marT="29389" marB="29389" anchor="ctr"/>
                </a:tc>
                <a:extLst>
                  <a:ext uri="{0D108BD9-81ED-4DB2-BD59-A6C34878D82A}">
                    <a16:rowId xmlns:a16="http://schemas.microsoft.com/office/drawing/2014/main" val="146471435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/>
                        <a:t>get_monthly_incident_trend</a:t>
                      </a:r>
                    </a:p>
                  </a:txBody>
                  <a:tcPr marL="58779" marR="58779" marT="29389" marB="29389" anchor="ctr"/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Consulta la evolución mensual de los incidentes para identificar tendencias.</a:t>
                      </a:r>
                    </a:p>
                  </a:txBody>
                  <a:tcPr marL="58779" marR="58779" marT="29389" marB="29389" anchor="ctr"/>
                </a:tc>
                <a:extLst>
                  <a:ext uri="{0D108BD9-81ED-4DB2-BD59-A6C34878D82A}">
                    <a16:rowId xmlns:a16="http://schemas.microsoft.com/office/drawing/2014/main" val="335091842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/>
                        <a:t>get_solution_effectiveness</a:t>
                      </a:r>
                    </a:p>
                  </a:txBody>
                  <a:tcPr marL="58779" marR="58779" marT="29389" marB="29389" anchor="ctr"/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Analiza la efectividad de las soluciones registradas, agrupando los resultados según los criterios definidos en la consulta.</a:t>
                      </a:r>
                    </a:p>
                  </a:txBody>
                  <a:tcPr marL="58779" marR="58779" marT="29389" marB="29389" anchor="ctr"/>
                </a:tc>
                <a:extLst>
                  <a:ext uri="{0D108BD9-81ED-4DB2-BD59-A6C34878D82A}">
                    <a16:rowId xmlns:a16="http://schemas.microsoft.com/office/drawing/2014/main" val="3315278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/>
                        <a:t>get_hypothesis_summary</a:t>
                      </a:r>
                    </a:p>
                  </a:txBody>
                  <a:tcPr marL="58779" marR="58779" marT="29389" marB="29389" anchor="ctr"/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Resume las hipótesis registradas y permite analizar su distribución por estado.</a:t>
                      </a:r>
                    </a:p>
                  </a:txBody>
                  <a:tcPr marL="58779" marR="58779" marT="29389" marB="29389" anchor="ctr"/>
                </a:tc>
                <a:extLst>
                  <a:ext uri="{0D108BD9-81ED-4DB2-BD59-A6C34878D82A}">
                    <a16:rowId xmlns:a16="http://schemas.microsoft.com/office/drawing/2014/main" val="2194551026"/>
                  </a:ext>
                </a:extLst>
              </a:tr>
              <a:tr h="146980">
                <a:tc>
                  <a:txBody>
                    <a:bodyPr/>
                    <a:lstStyle/>
                    <a:p>
                      <a:r>
                        <a:rPr lang="en-US" sz="1200"/>
                        <a:t>get_agent_usage_metrics</a:t>
                      </a:r>
                    </a:p>
                  </a:txBody>
                  <a:tcPr marL="58779" marR="58779" marT="29389" marB="29389" anchor="ctr"/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Consulta métricas de uso del agente a partir del historial de interacciones, según los datos disponibles.</a:t>
                      </a:r>
                    </a:p>
                  </a:txBody>
                  <a:tcPr marL="58779" marR="58779" marT="29389" marB="29389" anchor="ctr"/>
                </a:tc>
                <a:extLst>
                  <a:ext uri="{0D108BD9-81ED-4DB2-BD59-A6C34878D82A}">
                    <a16:rowId xmlns:a16="http://schemas.microsoft.com/office/drawing/2014/main" val="3755910317"/>
                  </a:ext>
                </a:extLst>
              </a:tr>
            </a:tbl>
          </a:graphicData>
        </a:graphic>
      </p:graphicFrame>
      <p:graphicFrame>
        <p:nvGraphicFramePr>
          <p:cNvPr id="8" name="Tab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3534889"/>
              </p:ext>
            </p:extLst>
          </p:nvPr>
        </p:nvGraphicFramePr>
        <p:xfrm>
          <a:off x="621792" y="4778194"/>
          <a:ext cx="10945368" cy="1367912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2034322">
                  <a:extLst>
                    <a:ext uri="{9D8B030D-6E8A-4147-A177-3AD203B41FA5}">
                      <a16:colId xmlns:a16="http://schemas.microsoft.com/office/drawing/2014/main" val="2182995101"/>
                    </a:ext>
                  </a:extLst>
                </a:gridCol>
                <a:gridCol w="8911046">
                  <a:extLst>
                    <a:ext uri="{9D8B030D-6E8A-4147-A177-3AD203B41FA5}">
                      <a16:colId xmlns:a16="http://schemas.microsoft.com/office/drawing/2014/main" val="3780428598"/>
                    </a:ext>
                  </a:extLst>
                </a:gridCol>
              </a:tblGrid>
              <a:tr h="159826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 err="1"/>
                        <a:t>Componente</a:t>
                      </a:r>
                      <a:r>
                        <a:rPr lang="en-US" sz="1200" b="1" dirty="0"/>
                        <a:t> / </a:t>
                      </a:r>
                      <a:r>
                        <a:rPr lang="en-US" sz="1200" b="1" dirty="0" err="1"/>
                        <a:t>herramienta</a:t>
                      </a:r>
                      <a:endParaRPr lang="en-US" sz="1200" b="1" dirty="0"/>
                    </a:p>
                  </a:txBody>
                  <a:tcPr marL="85396" marR="85396" marT="42698" marB="4269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 err="1"/>
                        <a:t>Descripción</a:t>
                      </a:r>
                      <a:endParaRPr lang="en-US" sz="1200" b="1" dirty="0"/>
                    </a:p>
                  </a:txBody>
                  <a:tcPr marL="85396" marR="85396" marT="42698" marB="42698" anchor="ctr"/>
                </a:tc>
                <a:extLst>
                  <a:ext uri="{0D108BD9-81ED-4DB2-BD59-A6C34878D82A}">
                    <a16:rowId xmlns:a16="http://schemas.microsoft.com/office/drawing/2014/main" val="1993422562"/>
                  </a:ext>
                </a:extLst>
              </a:tr>
              <a:tr h="159826">
                <a:tc>
                  <a:txBody>
                    <a:bodyPr/>
                    <a:lstStyle/>
                    <a:p>
                      <a:r>
                        <a:rPr lang="en-US" sz="1200" dirty="0" err="1"/>
                        <a:t>load_neon_tools</a:t>
                      </a:r>
                      <a:r>
                        <a:rPr lang="en-US" sz="1200" dirty="0"/>
                        <a:t>()</a:t>
                      </a:r>
                    </a:p>
                  </a:txBody>
                  <a:tcPr marL="85396" marR="85396" marT="42698" marB="42698" anchor="ctr"/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Inicializa la conexión con el servidor MCP de </a:t>
                      </a:r>
                      <a:r>
                        <a:rPr lang="es-ES" sz="1200" dirty="0" err="1"/>
                        <a:t>Neon</a:t>
                      </a:r>
                      <a:r>
                        <a:rPr lang="es-ES" sz="1200" dirty="0"/>
                        <a:t>, obtiene las herramientas disponibles y localiza la herramienta </a:t>
                      </a:r>
                      <a:r>
                        <a:rPr lang="es-ES" sz="1200" dirty="0" err="1"/>
                        <a:t>run_sql</a:t>
                      </a:r>
                      <a:r>
                        <a:rPr lang="es-ES" sz="1200" dirty="0"/>
                        <a:t>.</a:t>
                      </a:r>
                    </a:p>
                  </a:txBody>
                  <a:tcPr marL="85396" marR="85396" marT="42698" marB="42698" anchor="ctr"/>
                </a:tc>
                <a:extLst>
                  <a:ext uri="{0D108BD9-81ED-4DB2-BD59-A6C34878D82A}">
                    <a16:rowId xmlns:a16="http://schemas.microsoft.com/office/drawing/2014/main" val="2701115116"/>
                  </a:ext>
                </a:extLst>
              </a:tr>
              <a:tr h="159826">
                <a:tc>
                  <a:txBody>
                    <a:bodyPr/>
                    <a:lstStyle/>
                    <a:p>
                      <a:r>
                        <a:rPr lang="en-US" sz="1200"/>
                        <a:t>run_sql</a:t>
                      </a:r>
                    </a:p>
                  </a:txBody>
                  <a:tcPr marL="85396" marR="85396" marT="42698" marB="42698" anchor="ctr"/>
                </a:tc>
                <a:tc>
                  <a:txBody>
                    <a:bodyPr/>
                    <a:lstStyle/>
                    <a:p>
                      <a:r>
                        <a:rPr lang="es-ES" sz="1200"/>
                        <a:t>Ejecuta consultas SQL en PostgreSQL a través del MCP, utilizando el identificador del proyecto Neon y la consulta solicitada.</a:t>
                      </a:r>
                    </a:p>
                  </a:txBody>
                  <a:tcPr marL="85396" marR="85396" marT="42698" marB="42698" anchor="ctr"/>
                </a:tc>
                <a:extLst>
                  <a:ext uri="{0D108BD9-81ED-4DB2-BD59-A6C34878D82A}">
                    <a16:rowId xmlns:a16="http://schemas.microsoft.com/office/drawing/2014/main" val="618590020"/>
                  </a:ext>
                </a:extLst>
              </a:tr>
              <a:tr h="159826">
                <a:tc>
                  <a:txBody>
                    <a:bodyPr/>
                    <a:lstStyle/>
                    <a:p>
                      <a:r>
                        <a:rPr lang="en-US" sz="1200" dirty="0"/>
                        <a:t>_</a:t>
                      </a:r>
                      <a:r>
                        <a:rPr lang="en-US" sz="1200" dirty="0" err="1"/>
                        <a:t>run_analytics_sql</a:t>
                      </a:r>
                      <a:r>
                        <a:rPr lang="en-US" sz="1200" dirty="0"/>
                        <a:t>(</a:t>
                      </a:r>
                      <a:r>
                        <a:rPr lang="en-US" sz="1200" dirty="0" err="1"/>
                        <a:t>sql</a:t>
                      </a:r>
                      <a:r>
                        <a:rPr lang="en-US" sz="1200" dirty="0"/>
                        <a:t>)</a:t>
                      </a:r>
                    </a:p>
                  </a:txBody>
                  <a:tcPr marL="85396" marR="85396" marT="42698" marB="42698" anchor="ctr"/>
                </a:tc>
                <a:tc>
                  <a:txBody>
                    <a:bodyPr/>
                    <a:lstStyle/>
                    <a:p>
                      <a:r>
                        <a:rPr lang="es-ES" sz="1200"/>
                        <a:t>Función auxiliar que invoca run_sql, procesa su respuesta y facilita que las herramientas analíticas consuman los resultados.</a:t>
                      </a:r>
                    </a:p>
                  </a:txBody>
                  <a:tcPr marL="85396" marR="85396" marT="42698" marB="42698" anchor="ctr"/>
                </a:tc>
                <a:extLst>
                  <a:ext uri="{0D108BD9-81ED-4DB2-BD59-A6C34878D82A}">
                    <a16:rowId xmlns:a16="http://schemas.microsoft.com/office/drawing/2014/main" val="1626025756"/>
                  </a:ext>
                </a:extLst>
              </a:tr>
              <a:tr h="294808">
                <a:tc>
                  <a:txBody>
                    <a:bodyPr/>
                    <a:lstStyle/>
                    <a:p>
                      <a:r>
                        <a:rPr lang="en-US" sz="1200" dirty="0" err="1"/>
                        <a:t>Gestión</a:t>
                      </a:r>
                      <a:r>
                        <a:rPr lang="en-US" sz="1200" dirty="0"/>
                        <a:t> del </a:t>
                      </a:r>
                      <a:r>
                        <a:rPr lang="en-US" sz="1200" dirty="0" err="1"/>
                        <a:t>cliente</a:t>
                      </a:r>
                      <a:r>
                        <a:rPr lang="en-US" sz="1200" dirty="0"/>
                        <a:t> MCP</a:t>
                      </a:r>
                    </a:p>
                  </a:txBody>
                  <a:tcPr marL="85396" marR="85396" marT="42698" marB="42698" anchor="ctr"/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Mantiene la referencia al cliente y a la herramienta descubierta para que el </a:t>
                      </a:r>
                      <a:r>
                        <a:rPr lang="es-ES" sz="1200" dirty="0" err="1"/>
                        <a:t>backend</a:t>
                      </a:r>
                      <a:r>
                        <a:rPr lang="es-ES" sz="1200" dirty="0"/>
                        <a:t> pueda utilizarlos durante la ejecución de las consultas.</a:t>
                      </a:r>
                    </a:p>
                  </a:txBody>
                  <a:tcPr marL="85396" marR="85396" marT="42698" marB="42698" anchor="ctr"/>
                </a:tc>
                <a:extLst>
                  <a:ext uri="{0D108BD9-81ED-4DB2-BD59-A6C34878D82A}">
                    <a16:rowId xmlns:a16="http://schemas.microsoft.com/office/drawing/2014/main" val="239435360"/>
                  </a:ext>
                </a:extLst>
              </a:tr>
            </a:tbl>
          </a:graphicData>
        </a:graphic>
      </p:graphicFrame>
      <p:sp>
        <p:nvSpPr>
          <p:cNvPr id="9" name="Rectángulo 8"/>
          <p:cNvSpPr/>
          <p:nvPr/>
        </p:nvSpPr>
        <p:spPr>
          <a:xfrm>
            <a:off x="621792" y="1610759"/>
            <a:ext cx="109728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200" dirty="0"/>
              <a:t>Se implementó un conjunto de herramientas para la recuperación semántica y el análisis de incidentes, complementado con una integración MCP que habilita el acceso a </a:t>
            </a:r>
            <a:r>
              <a:rPr lang="es-ES" sz="1200" dirty="0" err="1"/>
              <a:t>Neon</a:t>
            </a:r>
            <a:r>
              <a:rPr lang="es-ES" sz="1200" dirty="0"/>
              <a:t> </a:t>
            </a:r>
            <a:r>
              <a:rPr lang="es-ES" sz="1200" dirty="0" err="1"/>
              <a:t>PostgreSQL</a:t>
            </a:r>
            <a:r>
              <a:rPr lang="es-ES" sz="1200" dirty="0"/>
              <a:t> mediante consultas SQL. Esta arquitectura permite al agente combinar antecedentes técnicos con información estructurada para generar respuestas fundamentadas.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588353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CA5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881360" cy="48628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lang="es-PE" sz="2800" b="1" dirty="0" smtClean="0">
                <a:solidFill>
                  <a:srgbClr val="182B46"/>
                </a:solidFill>
                <a:latin typeface="Aptos"/>
              </a:rPr>
              <a:t>6</a:t>
            </a:r>
            <a:r>
              <a:rPr sz="2800" b="1" dirty="0" smtClean="0">
                <a:solidFill>
                  <a:srgbClr val="182B46"/>
                </a:solidFill>
                <a:latin typeface="Aptos"/>
              </a:rPr>
              <a:t>. </a:t>
            </a:r>
            <a:r>
              <a:rPr sz="2800" b="1" dirty="0" err="1">
                <a:solidFill>
                  <a:srgbClr val="182B46"/>
                </a:solidFill>
                <a:latin typeface="Aptos"/>
              </a:rPr>
              <a:t>Conclusiones</a:t>
            </a:r>
            <a:endParaRPr sz="2800" b="1" dirty="0">
              <a:solidFill>
                <a:srgbClr val="182B46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10789920" cy="20928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r>
              <a:rPr lang="es-ES" sz="1000" b="1" dirty="0"/>
              <a:t>Agente conversacional inteligente para el diagnóstico y resolución de incidentes de tecnológicos.</a:t>
            </a:r>
            <a:endParaRPr sz="1000" b="1" dirty="0">
              <a:solidFill>
                <a:srgbClr val="697787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018520" y="6473952"/>
            <a:ext cx="548640" cy="20116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r"/>
            <a:r>
              <a:rPr sz="900" b="1">
                <a:solidFill>
                  <a:srgbClr val="697787"/>
                </a:solidFill>
                <a:latin typeface="Aptos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389888"/>
            <a:ext cx="10927080" cy="22860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383280" cy="1965960"/>
          </a:xfrm>
          <a:prstGeom prst="roundRect">
            <a:avLst/>
          </a:prstGeom>
          <a:solidFill>
            <a:srgbClr val="F3F7FB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8408" y="1993392"/>
            <a:ext cx="2980944" cy="32918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500" b="1">
                <a:solidFill>
                  <a:srgbClr val="3069AA"/>
                </a:solidFill>
                <a:latin typeface="Aptos"/>
              </a:rPr>
              <a:t>Hallazgo principal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450592"/>
            <a:ext cx="2980944" cy="113261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marL="285750" indent="-285750" algn="l">
              <a:buFontTx/>
              <a:buChar char="-"/>
            </a:pPr>
            <a:r>
              <a:rPr lang="es-PE" sz="1400" b="0" dirty="0" smtClean="0">
                <a:solidFill>
                  <a:srgbClr val="697787"/>
                </a:solidFill>
                <a:latin typeface="Aptos"/>
              </a:rPr>
              <a:t>El piloto demuestra rapidez en respuestas, indicando claramente si la solución ya ha sido corroborada.</a:t>
            </a:r>
          </a:p>
          <a:p>
            <a:pPr marL="285750" indent="-285750" algn="l">
              <a:buFontTx/>
              <a:buChar char="-"/>
            </a:pPr>
            <a:r>
              <a:rPr lang="es-PE" sz="1400" dirty="0" smtClean="0">
                <a:solidFill>
                  <a:srgbClr val="697787"/>
                </a:solidFill>
                <a:latin typeface="Aptos"/>
              </a:rPr>
              <a:t>Centralización del conocimiento.</a:t>
            </a:r>
            <a:endParaRPr sz="1400" b="0" dirty="0">
              <a:solidFill>
                <a:srgbClr val="697787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507412" y="1815084"/>
            <a:ext cx="3246120" cy="1965960"/>
          </a:xfrm>
          <a:prstGeom prst="roundRect">
            <a:avLst/>
          </a:prstGeom>
          <a:solidFill>
            <a:srgbClr val="F3F7FB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08580" y="1979676"/>
            <a:ext cx="2843784" cy="32918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500" b="1">
                <a:solidFill>
                  <a:srgbClr val="3069AA"/>
                </a:solidFill>
                <a:latin typeface="Aptos"/>
              </a:rPr>
              <a:t>Consideraciones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8580" y="2436876"/>
            <a:ext cx="2843784" cy="113261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marL="285750" indent="-285750" algn="l">
              <a:buFontTx/>
              <a:buChar char="-"/>
            </a:pPr>
            <a:r>
              <a:rPr lang="es-PE" sz="1400" b="0" dirty="0" smtClean="0">
                <a:solidFill>
                  <a:srgbClr val="697787"/>
                </a:solidFill>
                <a:latin typeface="Aptos"/>
              </a:rPr>
              <a:t>Tener un adecuado gobierno de Agentes de IA.</a:t>
            </a:r>
          </a:p>
          <a:p>
            <a:pPr marL="285750" indent="-285750" algn="l">
              <a:buFontTx/>
              <a:buChar char="-"/>
            </a:pPr>
            <a:r>
              <a:rPr lang="es-PE" sz="1400" dirty="0" smtClean="0">
                <a:solidFill>
                  <a:srgbClr val="697787"/>
                </a:solidFill>
                <a:latin typeface="Aptos"/>
              </a:rPr>
              <a:t>Gestionar correctamente </a:t>
            </a:r>
            <a:r>
              <a:rPr lang="es-PE" sz="1400" dirty="0" err="1" smtClean="0">
                <a:solidFill>
                  <a:srgbClr val="697787"/>
                </a:solidFill>
                <a:latin typeface="Aptos"/>
              </a:rPr>
              <a:t>guardrails</a:t>
            </a:r>
            <a:r>
              <a:rPr lang="es-PE" sz="1400" dirty="0" smtClean="0">
                <a:solidFill>
                  <a:srgbClr val="697787"/>
                </a:solidFill>
                <a:latin typeface="Aptos"/>
              </a:rPr>
              <a:t> e información sensible.</a:t>
            </a:r>
            <a:endParaRPr lang="es-PE" sz="1400" b="0" dirty="0" smtClean="0">
              <a:solidFill>
                <a:srgbClr val="697787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22960" y="4251960"/>
            <a:ext cx="10515600" cy="3657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3069AA"/>
                </a:solidFill>
                <a:latin typeface="Aptos"/>
              </a:rPr>
              <a:t>Próximos pasos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709160"/>
            <a:ext cx="10241280" cy="1713262"/>
          </a:xfrm>
          <a:prstGeom prst="roundRect">
            <a:avLst/>
          </a:prstGeom>
          <a:solidFill>
            <a:srgbClr val="F3F7FB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78408" y="4828988"/>
            <a:ext cx="9486392" cy="1563505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marL="285750" indent="-285750" algn="l">
              <a:buFontTx/>
              <a:buChar char="-"/>
            </a:pPr>
            <a:r>
              <a:rPr lang="es-PE" sz="1400" dirty="0" smtClean="0">
                <a:solidFill>
                  <a:srgbClr val="697787"/>
                </a:solidFill>
                <a:latin typeface="Aptos"/>
              </a:rPr>
              <a:t>Automatizar la lectura de preguntas y respuestas del chat de </a:t>
            </a:r>
            <a:r>
              <a:rPr lang="es-PE" sz="1400" dirty="0" err="1" smtClean="0">
                <a:solidFill>
                  <a:srgbClr val="697787"/>
                </a:solidFill>
                <a:latin typeface="Aptos"/>
              </a:rPr>
              <a:t>Teams</a:t>
            </a:r>
            <a:r>
              <a:rPr lang="es-PE" sz="1400" dirty="0" smtClean="0">
                <a:solidFill>
                  <a:srgbClr val="697787"/>
                </a:solidFill>
                <a:latin typeface="Aptos"/>
              </a:rPr>
              <a:t>. Detectando cuáles son verdaderamente preguntas y cuáles han sido resueltas o están pendientes.</a:t>
            </a:r>
          </a:p>
          <a:p>
            <a:pPr marL="285750" indent="-285750" algn="l">
              <a:buFontTx/>
              <a:buChar char="-"/>
            </a:pPr>
            <a:r>
              <a:rPr lang="es-PE" sz="1400" b="0" dirty="0" smtClean="0">
                <a:solidFill>
                  <a:srgbClr val="697787"/>
                </a:solidFill>
                <a:latin typeface="Aptos"/>
              </a:rPr>
              <a:t>Automatizar el pipeline que alimenta la BD Vectorial desde la BD Estructurada.</a:t>
            </a:r>
          </a:p>
          <a:p>
            <a:pPr marL="285750" indent="-285750" algn="l">
              <a:buFontTx/>
              <a:buChar char="-"/>
            </a:pPr>
            <a:r>
              <a:rPr lang="es-PE" sz="1400" dirty="0" smtClean="0">
                <a:solidFill>
                  <a:srgbClr val="697787"/>
                </a:solidFill>
                <a:latin typeface="Aptos"/>
              </a:rPr>
              <a:t>Definir un adecuado gobierno de consultas y respuestas.</a:t>
            </a:r>
          </a:p>
          <a:p>
            <a:pPr marL="285750" indent="-285750" algn="l">
              <a:buFontTx/>
              <a:buChar char="-"/>
            </a:pPr>
            <a:r>
              <a:rPr lang="es-PE" sz="1400" b="0" dirty="0" smtClean="0">
                <a:solidFill>
                  <a:srgbClr val="697787"/>
                </a:solidFill>
                <a:latin typeface="Aptos"/>
              </a:rPr>
              <a:t>Definir el método adecuado para el manejo de información sensible.</a:t>
            </a:r>
          </a:p>
          <a:p>
            <a:pPr marL="285750" indent="-285750" algn="l">
              <a:buFontTx/>
              <a:buChar char="-"/>
            </a:pPr>
            <a:r>
              <a:rPr lang="es-PE" sz="1400" dirty="0" smtClean="0">
                <a:solidFill>
                  <a:srgbClr val="697787"/>
                </a:solidFill>
                <a:latin typeface="Aptos"/>
              </a:rPr>
              <a:t>Desplegar la solución completamente en la nube.</a:t>
            </a:r>
          </a:p>
          <a:p>
            <a:pPr marL="285750" indent="-285750" algn="l">
              <a:buFontTx/>
              <a:buChar char="-"/>
            </a:pPr>
            <a:r>
              <a:rPr lang="es-PE" sz="1400" b="0" dirty="0" smtClean="0">
                <a:solidFill>
                  <a:srgbClr val="697787"/>
                </a:solidFill>
                <a:latin typeface="Aptos"/>
              </a:rPr>
              <a:t>Permitir que el </a:t>
            </a:r>
            <a:r>
              <a:rPr lang="es-PE" sz="1400" dirty="0" smtClean="0">
                <a:solidFill>
                  <a:srgbClr val="697787"/>
                </a:solidFill>
                <a:latin typeface="Aptos"/>
              </a:rPr>
              <a:t>agente reconozca y transcriba </a:t>
            </a:r>
            <a:r>
              <a:rPr lang="es-PE" sz="1400" b="0" dirty="0" smtClean="0">
                <a:solidFill>
                  <a:srgbClr val="697787"/>
                </a:solidFill>
                <a:latin typeface="Aptos"/>
              </a:rPr>
              <a:t>las capturas de pantallas ingresadas por los </a:t>
            </a:r>
            <a:r>
              <a:rPr lang="es-PE" sz="1400" b="0" dirty="0" err="1" smtClean="0">
                <a:solidFill>
                  <a:srgbClr val="697787"/>
                </a:solidFill>
                <a:latin typeface="Aptos"/>
              </a:rPr>
              <a:t>LTs</a:t>
            </a:r>
            <a:r>
              <a:rPr lang="es-PE" sz="1400" dirty="0" smtClean="0">
                <a:solidFill>
                  <a:srgbClr val="697787"/>
                </a:solidFill>
                <a:latin typeface="Aptos"/>
              </a:rPr>
              <a:t>.</a:t>
            </a:r>
            <a:endParaRPr sz="1400" b="0" dirty="0">
              <a:solidFill>
                <a:srgbClr val="697787"/>
              </a:solidFill>
              <a:latin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258</TotalTime>
  <Words>878</Words>
  <Application>Microsoft Office PowerPoint</Application>
  <PresentationFormat>Panorámica</PresentationFormat>
  <Paragraphs>104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3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/>
  <cp:keywords/>
  <dc:description>generated using python-pptx</dc:description>
  <cp:lastModifiedBy>PEDRO VARGAS</cp:lastModifiedBy>
  <cp:revision>27</cp:revision>
  <dcterms:created xsi:type="dcterms:W3CDTF">2013-01-27T09:14:16Z</dcterms:created>
  <dcterms:modified xsi:type="dcterms:W3CDTF">2026-10-16T21:10:50Z</dcterms:modified>
  <cp:category/>
</cp:coreProperties>
</file>