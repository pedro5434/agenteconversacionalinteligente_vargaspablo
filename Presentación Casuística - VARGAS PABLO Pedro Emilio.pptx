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4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VARGAS" initials="PV" lastIdx="1" clrIdx="0">
    <p:extLst>
      <p:ext uri="{19B8F6BF-5375-455C-9EA6-DF929625EA0E}">
        <p15:presenceInfo xmlns:p15="http://schemas.microsoft.com/office/powerpoint/2012/main" userId="0a7196e77c6f3ef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79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6T15:55:05.481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966960" cy="45550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1300" b="1" dirty="0" smtClean="0">
                <a:solidFill>
                  <a:srgbClr val="2CA5A9"/>
                </a:solidFill>
                <a:latin typeface="Aptos"/>
              </a:rPr>
              <a:t>AI SOLUTION ARCHITECT – EDICIÓN 4</a:t>
            </a:r>
          </a:p>
          <a:p>
            <a:pPr algn="l"/>
            <a:r>
              <a:rPr lang="es-PE" sz="1300" b="1" dirty="0" smtClean="0">
                <a:solidFill>
                  <a:srgbClr val="2CA5A9"/>
                </a:solidFill>
                <a:latin typeface="Aptos"/>
              </a:rPr>
              <a:t>DATAPATH</a:t>
            </a:r>
            <a:endParaRPr sz="1300" b="1" dirty="0">
              <a:solidFill>
                <a:srgbClr val="2CA5A9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39" y="1783080"/>
            <a:ext cx="10355217" cy="116339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3600" b="1" dirty="0"/>
              <a:t>Agente conversacional inteligente para el diagnóstico y resolución de incidentes de </a:t>
            </a:r>
            <a:r>
              <a:rPr lang="es-ES" sz="3600" b="1" dirty="0" smtClean="0"/>
              <a:t>tecnológicos</a:t>
            </a:r>
            <a:endParaRPr lang="es-E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8961120" cy="3170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1700" b="0" dirty="0" err="1" smtClean="0">
                <a:solidFill>
                  <a:srgbClr val="697787"/>
                </a:solidFill>
                <a:latin typeface="Aptos"/>
              </a:rPr>
              <a:t>Chatbot</a:t>
            </a:r>
            <a:r>
              <a:rPr lang="es-PE" sz="1700" b="0" dirty="0" smtClean="0">
                <a:solidFill>
                  <a:srgbClr val="697787"/>
                </a:solidFill>
                <a:latin typeface="Aptos"/>
              </a:rPr>
              <a:t> integrado con Agente IA y Base de Conocimiento Vectorial y Estructurada.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9860" y="4064581"/>
            <a:ext cx="1143000" cy="658368"/>
          </a:xfrm>
          <a:prstGeom prst="roundRect">
            <a:avLst/>
          </a:prstGeom>
          <a:solidFill>
            <a:srgbClr val="30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072384"/>
            <a:ext cx="1371600" cy="658368"/>
          </a:xfrm>
          <a:prstGeom prst="round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Agente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9144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1600" b="1" dirty="0" smtClean="0">
                <a:solidFill>
                  <a:srgbClr val="697787"/>
                </a:solidFill>
                <a:latin typeface="Aptos"/>
              </a:rPr>
              <a:t>Propuesto por: VARGAS PABLO, PEDRO EMILIO</a:t>
            </a:r>
            <a:endParaRPr sz="16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822960" y="3944121"/>
            <a:ext cx="8961120" cy="5786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PE" sz="1700" b="1" dirty="0">
                <a:solidFill>
                  <a:srgbClr val="FF0000"/>
                </a:solidFill>
                <a:latin typeface="Aptos"/>
              </a:rPr>
              <a:t>GITHUB: https://github.com/pedro5434/AgenteConversacionalInteligente_VargasPablo</a:t>
            </a:r>
            <a:endParaRPr lang="es-PE" sz="1700" b="1" dirty="0" smtClean="0">
              <a:solidFill>
                <a:srgbClr val="FF0000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182B46"/>
                </a:solidFill>
                <a:latin typeface="Aptos"/>
              </a:rPr>
              <a:t>1. Problemática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15087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480974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Situación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5368"/>
            <a:ext cx="5212080" cy="113261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En la empresa existen centenares de Líderes Técnicos que custodian sus aplicaciones y constantemente reportan problemas técnicos </a:t>
            </a:r>
            <a:r>
              <a:rPr lang="es-PE" sz="1400" dirty="0">
                <a:solidFill>
                  <a:srgbClr val="697787"/>
                </a:solidFill>
                <a:latin typeface="Aptos"/>
              </a:rPr>
              <a:t>y</a:t>
            </a: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 consultas en un chat grupal, intentando resolver problemas técnicos para que sus Apps sigan operativas y brindando servicio a los usuarios finales.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12080" cy="15087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947672"/>
            <a:ext cx="480974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Causas principales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11523"/>
            <a:ext cx="5212080" cy="70173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No existen un canal oficial o herramienta donde se centralice el conocimiento y permita resolver dudas técnicas rápidamente.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5212080" cy="160020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776472"/>
            <a:ext cx="298094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Impacto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51329"/>
            <a:ext cx="5212080" cy="91717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Potencial indisponibilidad de aplicaciones que puede afectar el servicio a usuarios finales.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Retrasos en entregas: Los </a:t>
            </a:r>
            <a:r>
              <a:rPr lang="es-PE" sz="1400" dirty="0" err="1" smtClean="0">
                <a:solidFill>
                  <a:srgbClr val="697787"/>
                </a:solidFill>
                <a:latin typeface="Aptos"/>
              </a:rPr>
              <a:t>LTs</a:t>
            </a: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 requieren tiempo para investigar soluciones.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3589020"/>
            <a:ext cx="5239512" cy="160020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753612"/>
            <a:ext cx="5010912" cy="2862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1500" b="1" dirty="0" smtClean="0">
                <a:solidFill>
                  <a:srgbClr val="3069AA"/>
                </a:solidFill>
                <a:latin typeface="Aptos"/>
              </a:rPr>
              <a:t>Consecuencias negativas</a:t>
            </a:r>
            <a:endParaRPr sz="1500" b="1" dirty="0">
              <a:solidFill>
                <a:srgbClr val="3069A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72200" y="4082796"/>
            <a:ext cx="5239512" cy="70173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Indisponibilidad de los canales, afectando a usuarios finales.</a:t>
            </a:r>
          </a:p>
          <a:p>
            <a:pPr marL="285750" indent="-285750" algn="l">
              <a:buFontTx/>
              <a:buChar char="-"/>
            </a:pP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Daños a la reputación de la empresa.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Pérdidas económicas.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182B46"/>
                </a:solidFill>
                <a:latin typeface="Aptos"/>
              </a:rPr>
              <a:t>1. Problemática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066" y="1599176"/>
            <a:ext cx="6580531" cy="520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 dirty="0">
                <a:solidFill>
                  <a:srgbClr val="182B46"/>
                </a:solidFill>
                <a:latin typeface="Aptos"/>
              </a:rPr>
              <a:t>2. ¿</a:t>
            </a:r>
            <a:r>
              <a:rPr sz="2800" b="1" dirty="0" err="1">
                <a:solidFill>
                  <a:srgbClr val="182B46"/>
                </a:solidFill>
                <a:latin typeface="Aptos"/>
              </a:rPr>
              <a:t>Cómo</a:t>
            </a:r>
            <a:r>
              <a:rPr sz="2800" b="1" dirty="0">
                <a:solidFill>
                  <a:srgbClr val="182B46"/>
                </a:solidFill>
                <a:latin typeface="Aptos"/>
              </a:rPr>
              <a:t> lo </a:t>
            </a:r>
            <a:r>
              <a:rPr sz="2800" b="1" dirty="0" err="1">
                <a:solidFill>
                  <a:srgbClr val="182B46"/>
                </a:solidFill>
                <a:latin typeface="Aptos"/>
              </a:rPr>
              <a:t>están</a:t>
            </a:r>
            <a:r>
              <a:rPr sz="2800" b="1" dirty="0">
                <a:solidFill>
                  <a:srgbClr val="182B46"/>
                </a:solidFill>
                <a:latin typeface="Aptos"/>
              </a:rPr>
              <a:t> </a:t>
            </a:r>
            <a:r>
              <a:rPr sz="2800" b="1" dirty="0" err="1" smtClean="0">
                <a:solidFill>
                  <a:srgbClr val="182B46"/>
                </a:solidFill>
                <a:latin typeface="Aptos"/>
              </a:rPr>
              <a:t>resolviendo</a:t>
            </a:r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 actualmente</a:t>
            </a:r>
            <a:r>
              <a:rPr sz="2800" b="1" dirty="0" smtClean="0">
                <a:solidFill>
                  <a:srgbClr val="182B46"/>
                </a:solidFill>
                <a:latin typeface="Aptos"/>
              </a:rPr>
              <a:t>?</a:t>
            </a:r>
            <a:endParaRPr sz="2800" b="1" dirty="0">
              <a:solidFill>
                <a:srgbClr val="182B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5156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 err="1">
                <a:solidFill>
                  <a:srgbClr val="3069AA"/>
                </a:solidFill>
                <a:latin typeface="Aptos"/>
              </a:rPr>
              <a:t>Proceso</a:t>
            </a:r>
            <a:r>
              <a:rPr sz="1800" b="1" dirty="0">
                <a:solidFill>
                  <a:srgbClr val="3069AA"/>
                </a:solidFill>
                <a:latin typeface="Aptos"/>
              </a:rPr>
              <a:t> actual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2057400" cy="10515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82B46"/>
                </a:solidFill>
                <a:latin typeface="Aptos"/>
              </a:rPr>
              <a:t>1. </a:t>
            </a:r>
            <a:r>
              <a:rPr lang="es-PE" sz="1400" b="1" dirty="0" smtClean="0">
                <a:solidFill>
                  <a:srgbClr val="182B46"/>
                </a:solidFill>
                <a:latin typeface="Aptos"/>
              </a:rPr>
              <a:t>Detecta problema</a:t>
            </a:r>
            <a:r>
              <a:rPr sz="1400" b="1" dirty="0">
                <a:solidFill>
                  <a:srgbClr val="182B46"/>
                </a:solidFill>
                <a:latin typeface="Aptos"/>
              </a:rPr>
              <a:t>
</a:t>
            </a:r>
            <a:r>
              <a:rPr sz="1000" dirty="0" smtClean="0">
                <a:solidFill>
                  <a:srgbClr val="697787"/>
                </a:solidFill>
                <a:latin typeface="Aptos"/>
              </a:rPr>
              <a:t>[</a:t>
            </a:r>
            <a:r>
              <a:rPr lang="es-PE" sz="1000" dirty="0" smtClean="0">
                <a:solidFill>
                  <a:srgbClr val="697787"/>
                </a:solidFill>
                <a:latin typeface="Aptos"/>
              </a:rPr>
              <a:t>LT o responsable de App</a:t>
            </a:r>
            <a:r>
              <a:rPr sz="1000" dirty="0" smtClean="0">
                <a:solidFill>
                  <a:srgbClr val="697787"/>
                </a:solidFill>
                <a:latin typeface="Aptos"/>
              </a:rPr>
              <a:t>]</a:t>
            </a:r>
            <a:endParaRPr sz="100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3512" y="2651760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300" b="1">
                <a:solidFill>
                  <a:srgbClr val="2CA5A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331720"/>
            <a:ext cx="2057400" cy="10515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82B46"/>
                </a:solidFill>
                <a:latin typeface="Aptos"/>
              </a:rPr>
              <a:t>2. </a:t>
            </a:r>
            <a:r>
              <a:rPr lang="es-PE" sz="1400" b="1" dirty="0" smtClean="0">
                <a:solidFill>
                  <a:srgbClr val="182B46"/>
                </a:solidFill>
                <a:latin typeface="Aptos"/>
              </a:rPr>
              <a:t>Revisa foros corporativos</a:t>
            </a:r>
            <a:endParaRPr sz="100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88152" y="2651760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300" b="1">
                <a:solidFill>
                  <a:srgbClr val="2CA5A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331720"/>
            <a:ext cx="2057400" cy="10515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82B46"/>
                </a:solidFill>
                <a:latin typeface="Aptos"/>
              </a:rPr>
              <a:t>3. </a:t>
            </a:r>
            <a:r>
              <a:rPr lang="es-PE" sz="1400" b="1" dirty="0" smtClean="0">
                <a:solidFill>
                  <a:srgbClr val="182B46"/>
                </a:solidFill>
                <a:latin typeface="Aptos"/>
              </a:rPr>
              <a:t>Registra consulta en Chat Grupal</a:t>
            </a:r>
            <a:endParaRPr sz="100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22792" y="2651760"/>
            <a:ext cx="502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300" b="1">
                <a:solidFill>
                  <a:srgbClr val="2CA5A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331720"/>
            <a:ext cx="2057400" cy="10515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82B46"/>
                </a:solidFill>
                <a:latin typeface="Aptos"/>
              </a:rPr>
              <a:t>4. </a:t>
            </a:r>
            <a:r>
              <a:rPr lang="es-PE" sz="1400" b="1" dirty="0" smtClean="0">
                <a:solidFill>
                  <a:srgbClr val="182B46"/>
                </a:solidFill>
                <a:latin typeface="Aptos"/>
              </a:rPr>
              <a:t>Espera resultado</a:t>
            </a:r>
            <a:endParaRPr sz="100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333756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4142231"/>
            <a:ext cx="293522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Herramientas actuales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599431"/>
            <a:ext cx="2935224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b="0" dirty="0" err="1" smtClean="0">
                <a:solidFill>
                  <a:srgbClr val="697787"/>
                </a:solidFill>
                <a:latin typeface="Aptos"/>
              </a:rPr>
              <a:t>Confluence</a:t>
            </a: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 (Wikipedia interna)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Chat en </a:t>
            </a:r>
            <a:r>
              <a:rPr lang="es-PE" sz="1400" dirty="0" err="1" smtClean="0">
                <a:solidFill>
                  <a:srgbClr val="697787"/>
                </a:solidFill>
                <a:latin typeface="Aptos"/>
              </a:rPr>
              <a:t>Teams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2440" y="3977639"/>
            <a:ext cx="324612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4142231"/>
            <a:ext cx="284378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Limitaciones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4599431"/>
            <a:ext cx="2843784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- Demoras en obtener respuesta y soluciones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 dirty="0">
                <a:solidFill>
                  <a:srgbClr val="182B46"/>
                </a:solidFill>
                <a:latin typeface="Aptos"/>
              </a:rPr>
              <a:t>3. </a:t>
            </a:r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Propuesta</a:t>
            </a:r>
            <a:endParaRPr sz="2800" b="1" dirty="0">
              <a:solidFill>
                <a:srgbClr val="182B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1752969"/>
            <a:ext cx="5590177" cy="371794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400" b="1" dirty="0" smtClean="0"/>
              <a:t>Características </a:t>
            </a:r>
            <a:r>
              <a:rPr lang="es-ES" sz="1400" b="1" dirty="0"/>
              <a:t>principales</a:t>
            </a:r>
          </a:p>
          <a:p>
            <a:pPr marL="285750" indent="-285750">
              <a:buFontTx/>
              <a:buChar char="-"/>
            </a:pPr>
            <a:r>
              <a:rPr lang="es-ES" sz="1400" b="1" dirty="0" smtClean="0"/>
              <a:t>Interfaz </a:t>
            </a:r>
            <a:r>
              <a:rPr lang="es-ES" sz="1400" b="1" dirty="0"/>
              <a:t>web conversacional:</a:t>
            </a:r>
            <a:r>
              <a:rPr lang="es-ES" sz="1400" dirty="0"/>
              <a:t> permite al usuario interactuar con el agente mediante chats y realizar consultas en lenguaje natural</a:t>
            </a:r>
            <a:r>
              <a:rPr lang="es-ES" sz="14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s-ES" sz="1400" b="1" dirty="0" smtClean="0"/>
              <a:t>Gestión </a:t>
            </a:r>
            <a:r>
              <a:rPr lang="es-ES" sz="1400" b="1" dirty="0"/>
              <a:t>y seguimiento de </a:t>
            </a:r>
            <a:r>
              <a:rPr lang="es-ES" sz="1400" b="1" dirty="0" smtClean="0"/>
              <a:t>sesiones y memoria contextual:</a:t>
            </a:r>
            <a:r>
              <a:rPr lang="es-ES" sz="1400" dirty="0" smtClean="0"/>
              <a:t> </a:t>
            </a:r>
            <a:r>
              <a:rPr lang="es-ES" sz="1400" dirty="0"/>
              <a:t>mantiene el historial de conversaciones organizado por sesión, permitiendo consultar las preguntas y respuestas de cada </a:t>
            </a:r>
            <a:r>
              <a:rPr lang="es-ES" sz="1400" dirty="0" smtClean="0"/>
              <a:t>chat.</a:t>
            </a:r>
          </a:p>
          <a:p>
            <a:pPr marL="285750" indent="-285750">
              <a:buFontTx/>
              <a:buChar char="-"/>
            </a:pPr>
            <a:r>
              <a:rPr lang="es-ES" sz="1400" b="1" dirty="0" smtClean="0"/>
              <a:t>Búsqueda </a:t>
            </a:r>
            <a:r>
              <a:rPr lang="es-ES" sz="1400" b="1" dirty="0"/>
              <a:t>semántica de incidentes:</a:t>
            </a:r>
            <a:r>
              <a:rPr lang="es-ES" sz="1400" dirty="0"/>
              <a:t> recupera antecedentes técnicos relacionados mediante una base de datos </a:t>
            </a:r>
            <a:r>
              <a:rPr lang="es-ES" sz="1400" dirty="0" smtClean="0"/>
              <a:t>vectorial.</a:t>
            </a:r>
          </a:p>
          <a:p>
            <a:pPr marL="285750" indent="-285750">
              <a:buFontTx/>
              <a:buChar char="-"/>
            </a:pPr>
            <a:r>
              <a:rPr lang="es-ES" sz="1400" b="1" dirty="0" smtClean="0"/>
              <a:t>Integración </a:t>
            </a:r>
            <a:r>
              <a:rPr lang="es-ES" sz="1400" b="1" dirty="0"/>
              <a:t>con datos estructurados:</a:t>
            </a:r>
            <a:r>
              <a:rPr lang="es-ES" sz="1400" dirty="0"/>
              <a:t> consulta </a:t>
            </a:r>
            <a:r>
              <a:rPr lang="es-ES" sz="1400" dirty="0" err="1"/>
              <a:t>PostgreSQL</a:t>
            </a:r>
            <a:r>
              <a:rPr lang="es-ES" sz="1400" dirty="0"/>
              <a:t> para recuperar incidentes, hipótesis, soluciones y adjuntos </a:t>
            </a:r>
            <a:r>
              <a:rPr lang="es-ES" sz="1400" dirty="0" smtClean="0"/>
              <a:t>registrados.</a:t>
            </a:r>
          </a:p>
          <a:p>
            <a:pPr marL="742950" lvl="1" indent="-285750">
              <a:buFontTx/>
              <a:buChar char="-"/>
            </a:pPr>
            <a:r>
              <a:rPr lang="es-ES" sz="1400" dirty="0" smtClean="0"/>
              <a:t>Se establece estructura para registrar el estado del incidente y la persona quien lo reportó/solucionó.</a:t>
            </a:r>
          </a:p>
          <a:p>
            <a:pPr marL="285750" indent="-285750">
              <a:buFontTx/>
              <a:buChar char="-"/>
            </a:pPr>
            <a:r>
              <a:rPr lang="es-ES" sz="1400" b="1" dirty="0" smtClean="0"/>
              <a:t>Diagnóstico </a:t>
            </a:r>
            <a:r>
              <a:rPr lang="es-ES" sz="1400" b="1" dirty="0"/>
              <a:t>asistido por IA:</a:t>
            </a:r>
            <a:r>
              <a:rPr lang="es-ES" sz="1400" dirty="0"/>
              <a:t> analiza los antecedentes disponibles y propone posibles causas y acciones de </a:t>
            </a:r>
            <a:r>
              <a:rPr lang="es-ES" sz="1400" dirty="0" smtClean="0"/>
              <a:t>diagnóstico.</a:t>
            </a:r>
          </a:p>
          <a:p>
            <a:pPr marL="285750" indent="-285750">
              <a:buFontTx/>
              <a:buChar char="-"/>
            </a:pPr>
            <a:r>
              <a:rPr lang="es-ES" sz="1400" b="1" dirty="0" smtClean="0"/>
              <a:t>Trazabilidad </a:t>
            </a:r>
            <a:r>
              <a:rPr lang="es-ES" sz="1400" b="1" dirty="0"/>
              <a:t>y confiabilidad:</a:t>
            </a:r>
            <a:r>
              <a:rPr lang="es-ES" sz="1400" dirty="0"/>
              <a:t> registra las interacciones y distingue los datos históricos verificados de las recomendaciones generadas.</a:t>
            </a:r>
          </a:p>
          <a:p>
            <a:pPr marL="228600" indent="-228600">
              <a:buAutoNum type="arabicParenR"/>
            </a:pP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37" y="1752969"/>
            <a:ext cx="4829175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4</a:t>
            </a:r>
            <a:r>
              <a:rPr sz="2800" b="1" dirty="0" smtClean="0">
                <a:solidFill>
                  <a:srgbClr val="182B46"/>
                </a:solidFill>
                <a:latin typeface="Aptos"/>
              </a:rPr>
              <a:t>. </a:t>
            </a:r>
            <a:r>
              <a:rPr sz="2800" b="1" dirty="0" err="1">
                <a:solidFill>
                  <a:srgbClr val="182B46"/>
                </a:solidFill>
                <a:latin typeface="Aptos"/>
              </a:rPr>
              <a:t>Arquitectura</a:t>
            </a:r>
            <a:endParaRPr sz="2800" b="1" dirty="0">
              <a:solidFill>
                <a:srgbClr val="182B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6"/>
          <p:cNvSpPr txBox="1"/>
          <p:nvPr/>
        </p:nvSpPr>
        <p:spPr>
          <a:xfrm>
            <a:off x="777240" y="1664208"/>
            <a:ext cx="1051560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b="1" dirty="0" smtClean="0">
                <a:solidFill>
                  <a:srgbClr val="3069AA"/>
                </a:solidFill>
                <a:latin typeface="Aptos"/>
              </a:rPr>
              <a:t>Diagrama C4 – Nivel 1</a:t>
            </a:r>
            <a:endParaRPr sz="1800" b="1" dirty="0">
              <a:solidFill>
                <a:srgbClr val="3069AA"/>
              </a:solidFill>
              <a:latin typeface="Aptos"/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248067"/>
            <a:ext cx="56388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4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605796"/>
            <a:ext cx="10302335" cy="527395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4</a:t>
            </a:r>
            <a:r>
              <a:rPr sz="2800" b="1" dirty="0" smtClean="0">
                <a:solidFill>
                  <a:srgbClr val="182B46"/>
                </a:solidFill>
                <a:latin typeface="Aptos"/>
              </a:rPr>
              <a:t>. </a:t>
            </a:r>
            <a:r>
              <a:rPr sz="2800" b="1" dirty="0" err="1">
                <a:solidFill>
                  <a:srgbClr val="182B46"/>
                </a:solidFill>
                <a:latin typeface="Aptos"/>
              </a:rPr>
              <a:t>Arquitectura</a:t>
            </a:r>
            <a:endParaRPr sz="2800" b="1" dirty="0">
              <a:solidFill>
                <a:srgbClr val="182B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6"/>
          <p:cNvSpPr txBox="1"/>
          <p:nvPr/>
        </p:nvSpPr>
        <p:spPr>
          <a:xfrm>
            <a:off x="777240" y="1664208"/>
            <a:ext cx="1051560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b="1" dirty="0" smtClean="0">
                <a:solidFill>
                  <a:srgbClr val="3069AA"/>
                </a:solidFill>
                <a:latin typeface="Aptos"/>
              </a:rPr>
              <a:t>Diagrama C4 – Nivel 2</a:t>
            </a:r>
            <a:endParaRPr sz="1800" b="1" dirty="0">
              <a:solidFill>
                <a:srgbClr val="3069AA"/>
              </a:solidFill>
              <a:latin typeface="Aptos"/>
            </a:endParaRPr>
          </a:p>
        </p:txBody>
      </p:sp>
      <p:sp>
        <p:nvSpPr>
          <p:cNvPr id="8" name="Llamada rectangular 7"/>
          <p:cNvSpPr/>
          <p:nvPr/>
        </p:nvSpPr>
        <p:spPr>
          <a:xfrm>
            <a:off x="11018520" y="2965581"/>
            <a:ext cx="1127665" cy="398780"/>
          </a:xfrm>
          <a:prstGeom prst="wedgeRectCallout">
            <a:avLst>
              <a:gd name="adj1" fmla="val -56944"/>
              <a:gd name="adj2" fmla="val 6871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 smtClean="0">
                <a:solidFill>
                  <a:schemeClr val="tx1"/>
                </a:solidFill>
              </a:rPr>
              <a:t>Deseable para etapas futuras.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0" name="Llamada rectangular 9"/>
          <p:cNvSpPr/>
          <p:nvPr/>
        </p:nvSpPr>
        <p:spPr>
          <a:xfrm>
            <a:off x="8663941" y="2608842"/>
            <a:ext cx="769620" cy="398780"/>
          </a:xfrm>
          <a:prstGeom prst="wedgeRectCallout">
            <a:avLst>
              <a:gd name="adj1" fmla="val -56944"/>
              <a:gd name="adj2" fmla="val 6871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800" dirty="0" smtClean="0">
                <a:solidFill>
                  <a:schemeClr val="tx1"/>
                </a:solidFill>
              </a:rPr>
              <a:t>Para este piloto, se hace manual.</a:t>
            </a:r>
            <a:endParaRPr 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08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5</a:t>
            </a:r>
            <a:r>
              <a:rPr sz="2800" b="1" dirty="0" smtClean="0">
                <a:solidFill>
                  <a:srgbClr val="182B46"/>
                </a:solidFill>
                <a:latin typeface="Aptos"/>
              </a:rPr>
              <a:t>. </a:t>
            </a:r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Tools y Funcionalidades MCP implementados para el Agente</a:t>
            </a:r>
            <a:endParaRPr sz="2800" b="1" dirty="0">
              <a:solidFill>
                <a:srgbClr val="182B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935434"/>
              </p:ext>
            </p:extLst>
          </p:nvPr>
        </p:nvGraphicFramePr>
        <p:xfrm>
          <a:off x="621792" y="2570046"/>
          <a:ext cx="10945368" cy="187448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034322">
                  <a:extLst>
                    <a:ext uri="{9D8B030D-6E8A-4147-A177-3AD203B41FA5}">
                      <a16:colId xmlns:a16="http://schemas.microsoft.com/office/drawing/2014/main" val="3462298937"/>
                    </a:ext>
                  </a:extLst>
                </a:gridCol>
                <a:gridCol w="8911046">
                  <a:extLst>
                    <a:ext uri="{9D8B030D-6E8A-4147-A177-3AD203B41FA5}">
                      <a16:colId xmlns:a16="http://schemas.microsoft.com/office/drawing/2014/main" val="3394967099"/>
                    </a:ext>
                  </a:extLst>
                </a:gridCol>
              </a:tblGrid>
              <a:tr h="21340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Tool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Funcionalidad</a:t>
                      </a:r>
                      <a:endParaRPr lang="en-US" sz="1200" b="1" dirty="0"/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3484254392"/>
                  </a:ext>
                </a:extLst>
              </a:tr>
              <a:tr h="9543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search_incident_history</a:t>
                      </a:r>
                      <a:endParaRPr lang="en-US" sz="1200" dirty="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Busca antecedentes de incidentes mediante </a:t>
                      </a:r>
                      <a:r>
                        <a:rPr lang="es-ES" sz="1200" dirty="0" err="1"/>
                        <a:t>Qdrant</a:t>
                      </a:r>
                      <a:r>
                        <a:rPr lang="es-ES" sz="1200" dirty="0"/>
                        <a:t> y consulta </a:t>
                      </a:r>
                      <a:r>
                        <a:rPr lang="es-ES" sz="1200" dirty="0" err="1"/>
                        <a:t>Neon</a:t>
                      </a:r>
                      <a:r>
                        <a:rPr lang="es-ES" sz="1200" dirty="0"/>
                        <a:t> para recuperar los registros relacionados, incluyendo hipótesis, soluciones y adjuntos.</a:t>
                      </a:r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16841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get_incident_summary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Obtiene un resumen estadístico de los incidentes registrados.</a:t>
                      </a:r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1464714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get_monthly_incident_trend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Consulta la evolución mensual de los incidentes para identificar tendencias.</a:t>
                      </a:r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3350918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get_solution_effectiveness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Analiza la efectividad de las soluciones registradas, agrupando los resultados según los criterios definidos en la consulta.</a:t>
                      </a:r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331527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get_hypothesis_summary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Resume las hipótesis registradas y permite analizar su distribución por estado.</a:t>
                      </a:r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2194551026"/>
                  </a:ext>
                </a:extLst>
              </a:tr>
              <a:tr h="146980">
                <a:tc>
                  <a:txBody>
                    <a:bodyPr/>
                    <a:lstStyle/>
                    <a:p>
                      <a:r>
                        <a:rPr lang="en-US" sz="1200"/>
                        <a:t>get_agent_usage_metrics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Consulta métricas de uso del agente a partir del historial de interacciones, según los datos disponibles.</a:t>
                      </a:r>
                    </a:p>
                  </a:txBody>
                  <a:tcPr marL="58779" marR="58779" marT="29389" marB="29389" anchor="ctr"/>
                </a:tc>
                <a:extLst>
                  <a:ext uri="{0D108BD9-81ED-4DB2-BD59-A6C34878D82A}">
                    <a16:rowId xmlns:a16="http://schemas.microsoft.com/office/drawing/2014/main" val="3755910317"/>
                  </a:ext>
                </a:extLst>
              </a:tr>
            </a:tbl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534889"/>
              </p:ext>
            </p:extLst>
          </p:nvPr>
        </p:nvGraphicFramePr>
        <p:xfrm>
          <a:off x="621792" y="4778194"/>
          <a:ext cx="10945368" cy="136791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034322">
                  <a:extLst>
                    <a:ext uri="{9D8B030D-6E8A-4147-A177-3AD203B41FA5}">
                      <a16:colId xmlns:a16="http://schemas.microsoft.com/office/drawing/2014/main" val="2182995101"/>
                    </a:ext>
                  </a:extLst>
                </a:gridCol>
                <a:gridCol w="8911046">
                  <a:extLst>
                    <a:ext uri="{9D8B030D-6E8A-4147-A177-3AD203B41FA5}">
                      <a16:colId xmlns:a16="http://schemas.microsoft.com/office/drawing/2014/main" val="3780428598"/>
                    </a:ext>
                  </a:extLst>
                </a:gridCol>
              </a:tblGrid>
              <a:tr h="15982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Componente</a:t>
                      </a:r>
                      <a:r>
                        <a:rPr lang="en-US" sz="1200" b="1" dirty="0"/>
                        <a:t> / </a:t>
                      </a:r>
                      <a:r>
                        <a:rPr lang="en-US" sz="1200" b="1" dirty="0" err="1"/>
                        <a:t>herramienta</a:t>
                      </a:r>
                      <a:endParaRPr lang="en-US" sz="1200" b="1" dirty="0"/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Descripción</a:t>
                      </a:r>
                      <a:endParaRPr lang="en-US" sz="1200" b="1" dirty="0"/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993422562"/>
                  </a:ext>
                </a:extLst>
              </a:tr>
              <a:tr h="159826">
                <a:tc>
                  <a:txBody>
                    <a:bodyPr/>
                    <a:lstStyle/>
                    <a:p>
                      <a:r>
                        <a:rPr lang="en-US" sz="1200" dirty="0" err="1"/>
                        <a:t>load_neon_tools</a:t>
                      </a:r>
                      <a:r>
                        <a:rPr lang="en-US" sz="1200" dirty="0"/>
                        <a:t>()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Inicializa la conexión con el servidor MCP de </a:t>
                      </a:r>
                      <a:r>
                        <a:rPr lang="es-ES" sz="1200" dirty="0" err="1"/>
                        <a:t>Neon</a:t>
                      </a:r>
                      <a:r>
                        <a:rPr lang="es-ES" sz="1200" dirty="0"/>
                        <a:t>, obtiene las herramientas disponibles y localiza la herramienta </a:t>
                      </a:r>
                      <a:r>
                        <a:rPr lang="es-ES" sz="1200" dirty="0" err="1"/>
                        <a:t>run_sql</a:t>
                      </a:r>
                      <a:r>
                        <a:rPr lang="es-ES" sz="1200" dirty="0"/>
                        <a:t>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701115116"/>
                  </a:ext>
                </a:extLst>
              </a:tr>
              <a:tr h="159826">
                <a:tc>
                  <a:txBody>
                    <a:bodyPr/>
                    <a:lstStyle/>
                    <a:p>
                      <a:r>
                        <a:rPr lang="en-US" sz="1200"/>
                        <a:t>run_sql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Ejecuta consultas SQL en PostgreSQL a través del MCP, utilizando el identificador del proyecto Neon y la consulta solicitada.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618590020"/>
                  </a:ext>
                </a:extLst>
              </a:tr>
              <a:tr h="159826">
                <a:tc>
                  <a:txBody>
                    <a:bodyPr/>
                    <a:lstStyle/>
                    <a:p>
                      <a:r>
                        <a:rPr lang="en-US" sz="1200" dirty="0"/>
                        <a:t>_</a:t>
                      </a:r>
                      <a:r>
                        <a:rPr lang="en-US" sz="1200" dirty="0" err="1"/>
                        <a:t>run_analytics_sql</a:t>
                      </a:r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sql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Función auxiliar que invoca run_sql, procesa su respuesta y facilita que las herramientas analíticas consuman los resultados.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626025756"/>
                  </a:ext>
                </a:extLst>
              </a:tr>
              <a:tr h="294808">
                <a:tc>
                  <a:txBody>
                    <a:bodyPr/>
                    <a:lstStyle/>
                    <a:p>
                      <a:r>
                        <a:rPr lang="en-US" sz="1200" dirty="0" err="1"/>
                        <a:t>Gestión</a:t>
                      </a:r>
                      <a:r>
                        <a:rPr lang="en-US" sz="1200" dirty="0"/>
                        <a:t> del </a:t>
                      </a:r>
                      <a:r>
                        <a:rPr lang="en-US" sz="1200" dirty="0" err="1"/>
                        <a:t>cliente</a:t>
                      </a:r>
                      <a:r>
                        <a:rPr lang="en-US" sz="1200" dirty="0"/>
                        <a:t> MCP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Mantiene la referencia al cliente y a la herramienta descubierta para que el </a:t>
                      </a:r>
                      <a:r>
                        <a:rPr lang="es-ES" sz="1200" dirty="0" err="1"/>
                        <a:t>backend</a:t>
                      </a:r>
                      <a:r>
                        <a:rPr lang="es-ES" sz="1200" dirty="0"/>
                        <a:t> pueda utilizarlos durante la ejecución de las consultas.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39435360"/>
                  </a:ext>
                </a:extLst>
              </a:tr>
            </a:tbl>
          </a:graphicData>
        </a:graphic>
      </p:graphicFrame>
      <p:sp>
        <p:nvSpPr>
          <p:cNvPr id="9" name="Rectángulo 8"/>
          <p:cNvSpPr/>
          <p:nvPr/>
        </p:nvSpPr>
        <p:spPr>
          <a:xfrm>
            <a:off x="621792" y="1610759"/>
            <a:ext cx="1097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/>
              <a:t>Se implementó un conjunto de herramientas para la recuperación semántica y el análisis de incidentes, complementado con una integración MCP que habilita el acceso a </a:t>
            </a:r>
            <a:r>
              <a:rPr lang="es-ES" sz="1200" dirty="0" err="1"/>
              <a:t>Neon</a:t>
            </a:r>
            <a:r>
              <a:rPr lang="es-ES" sz="1200" dirty="0"/>
              <a:t> </a:t>
            </a:r>
            <a:r>
              <a:rPr lang="es-ES" sz="1200" dirty="0" err="1"/>
              <a:t>PostgreSQL</a:t>
            </a:r>
            <a:r>
              <a:rPr lang="es-ES" sz="1200" dirty="0"/>
              <a:t> mediante consultas SQL. Esta arquitectura permite al agente combinar antecedentes técnicos con información estructurada para generar respuestas fundamentadas.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883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s-PE" sz="2800" b="1" dirty="0" smtClean="0">
                <a:solidFill>
                  <a:srgbClr val="182B46"/>
                </a:solidFill>
                <a:latin typeface="Aptos"/>
              </a:rPr>
              <a:t>6</a:t>
            </a:r>
            <a:r>
              <a:rPr sz="2800" b="1" dirty="0" smtClean="0">
                <a:solidFill>
                  <a:srgbClr val="182B46"/>
                </a:solidFill>
                <a:latin typeface="Aptos"/>
              </a:rPr>
              <a:t>. </a:t>
            </a:r>
            <a:r>
              <a:rPr sz="2800" b="1" dirty="0" err="1">
                <a:solidFill>
                  <a:srgbClr val="182B46"/>
                </a:solidFill>
                <a:latin typeface="Aptos"/>
              </a:rPr>
              <a:t>Conclusiones</a:t>
            </a:r>
            <a:endParaRPr sz="2800" b="1" dirty="0">
              <a:solidFill>
                <a:srgbClr val="182B4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2092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lang="es-ES" sz="1000" b="1" dirty="0"/>
              <a:t>Agente conversacional inteligente para el diagnóstico y resolución de incidentes de tecnológicos.</a:t>
            </a:r>
            <a:endParaRPr sz="1000" b="1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697787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89888"/>
            <a:ext cx="1092708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83280" cy="19659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298094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Hallazgo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2980944" cy="113261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El piloto demuestra rapidez en respuestas, indicando claramente si la solución ya ha sido corroborada.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Centralización del conocimiento.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07412" y="1815084"/>
            <a:ext cx="3246120" cy="1965960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8580" y="1979676"/>
            <a:ext cx="2843784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3069AA"/>
                </a:solidFill>
                <a:latin typeface="Aptos"/>
              </a:rPr>
              <a:t>Consideraciones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580" y="2436876"/>
            <a:ext cx="2843784" cy="113261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Tener un adecuado gobierno de Agentes de IA.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Gestionar correctamente </a:t>
            </a:r>
            <a:r>
              <a:rPr lang="es-PE" sz="1400" dirty="0" err="1" smtClean="0">
                <a:solidFill>
                  <a:srgbClr val="697787"/>
                </a:solidFill>
                <a:latin typeface="Aptos"/>
              </a:rPr>
              <a:t>guardrails</a:t>
            </a: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 e información sensible.</a:t>
            </a:r>
            <a:endParaRPr lang="es-PE" sz="1400" b="0" dirty="0" smtClean="0">
              <a:solidFill>
                <a:srgbClr val="697787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3069AA"/>
                </a:solidFill>
                <a:latin typeface="Aptos"/>
              </a:rPr>
              <a:t>Próximos pasos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09160"/>
            <a:ext cx="10241280" cy="1713262"/>
          </a:xfrm>
          <a:prstGeom prst="roundRect">
            <a:avLst/>
          </a:prstGeom>
          <a:solidFill>
            <a:srgbClr val="F3F7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4828988"/>
            <a:ext cx="9486392" cy="156350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Automatizar la lectura de preguntas y respuestas del chat de </a:t>
            </a:r>
            <a:r>
              <a:rPr lang="es-PE" sz="1400" dirty="0" err="1" smtClean="0">
                <a:solidFill>
                  <a:srgbClr val="697787"/>
                </a:solidFill>
                <a:latin typeface="Aptos"/>
              </a:rPr>
              <a:t>Teams</a:t>
            </a: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. Detectando cuáles son verdaderamente preguntas y cuáles han sido resueltas o están pendientes.</a:t>
            </a:r>
          </a:p>
          <a:p>
            <a:pPr marL="285750" indent="-285750" algn="l">
              <a:buFontTx/>
              <a:buChar char="-"/>
            </a:pP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Automatizar el pipeline que alimenta la BD Vectorial desde la BD Estructurada.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Definir un adecuado gobierno de consultas y respuestas.</a:t>
            </a:r>
          </a:p>
          <a:p>
            <a:pPr marL="285750" indent="-285750" algn="l">
              <a:buFontTx/>
              <a:buChar char="-"/>
            </a:pP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Definir el método adecuado para el manejo de información sensible.</a:t>
            </a:r>
          </a:p>
          <a:p>
            <a:pPr marL="285750" indent="-285750" algn="l">
              <a:buFontTx/>
              <a:buChar char="-"/>
            </a:pP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Desplegar la solución completamente en la nube.</a:t>
            </a:r>
          </a:p>
          <a:p>
            <a:pPr marL="285750" indent="-285750" algn="l">
              <a:buFontTx/>
              <a:buChar char="-"/>
            </a:pP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Permitir que el </a:t>
            </a: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agente reconozca y transcriba </a:t>
            </a:r>
            <a:r>
              <a:rPr lang="es-PE" sz="1400" b="0" dirty="0" smtClean="0">
                <a:solidFill>
                  <a:srgbClr val="697787"/>
                </a:solidFill>
                <a:latin typeface="Aptos"/>
              </a:rPr>
              <a:t>las capturas de pantallas ingresadas por los </a:t>
            </a:r>
            <a:r>
              <a:rPr lang="es-PE" sz="1400" b="0" dirty="0" err="1" smtClean="0">
                <a:solidFill>
                  <a:srgbClr val="697787"/>
                </a:solidFill>
                <a:latin typeface="Aptos"/>
              </a:rPr>
              <a:t>LTs</a:t>
            </a:r>
            <a:r>
              <a:rPr lang="es-PE" sz="1400" dirty="0" smtClean="0">
                <a:solidFill>
                  <a:srgbClr val="697787"/>
                </a:solidFill>
                <a:latin typeface="Aptos"/>
              </a:rPr>
              <a:t>.</a:t>
            </a:r>
            <a:endParaRPr sz="1400" b="0" dirty="0">
              <a:solidFill>
                <a:srgbClr val="697787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883</Words>
  <Application>Microsoft Office PowerPoint</Application>
  <PresentationFormat>Panorámica</PresentationFormat>
  <Paragraphs>105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PEDRO VARGAS</cp:lastModifiedBy>
  <cp:revision>28</cp:revision>
  <dcterms:created xsi:type="dcterms:W3CDTF">2013-01-27T09:14:16Z</dcterms:created>
  <dcterms:modified xsi:type="dcterms:W3CDTF">2026-10-16T21:39:55Z</dcterms:modified>
  <cp:category/>
</cp:coreProperties>
</file>